
<file path=[Content_Types].xml><?xml version="1.0" encoding="utf-8"?>
<Types xmlns="http://schemas.openxmlformats.org/package/2006/content-types">
  <Default Extension="xml" ContentType="application/xml"/>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viewProps.xml" ContentType="application/vnd.openxmlformats-officedocument.presentationml.viewProp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docProps/app.xml" ContentType="application/vnd.openxmlformats-officedocument.extended-properties+xml"/>
  <Override PartName="/ppt/slides/slide6.xml" ContentType="application/vnd.openxmlformats-officedocument.presentationml.slide+xml"/>
  <Override PartName="/ppt/theme/theme1.xml" ContentType="application/vnd.openxmlformats-officedocument.theme+xml"/>
  <Override PartName="/ppt/notesSlides/notesSlide6.xml" ContentType="application/vnd.openxmlformats-officedocument.presentationml.notesSlide+xml"/>
  <Override PartName="/ppt/notesMasters/notesMaster1.xml" ContentType="application/vnd.openxmlformats-officedocument.presentationml.notesMaster+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docProps/core.xml" ContentType="application/vnd.openxmlformats-package.core-properties+xml"/>
  <Override PartName="/ppt/slideMasters/slideMaster1.xml" ContentType="application/vnd.openxmlformats-officedocument.presentationml.slideMaster+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9"/>
  </p:notesMasterIdLst>
  <p:sldIdLst>
    <p:sldId id="256" r:id="rId3"/>
    <p:sldId id="257" r:id="rId4"/>
    <p:sldId id="258" r:id="rId5"/>
    <p:sldId id="259" r:id="rId6"/>
    <p:sldId id="260" r:id="rId7"/>
    <p:sldId id="261" r:id="rId8"/>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 /><Relationship Id="rId11" Type="http://schemas.openxmlformats.org/officeDocument/2006/relationships/tableStyles" Target="tableStyles.xml" /><Relationship Id="rId1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59370663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29994418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617294082"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387636043"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32031592"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2110386509"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hf dt="0" ftr="0" hdr="0" sldNum="1"/>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3203782" name="Slide Image Placeholder 1"/>
          <p:cNvSpPr>
            <a:spLocks noChangeAspect="1" noGrp="1" noRot="1"/>
          </p:cNvSpPr>
          <p:nvPr>
            <p:ph type="sldImg"/>
          </p:nvPr>
        </p:nvSpPr>
        <p:spPr bwMode="auto"/>
      </p:sp>
      <p:sp>
        <p:nvSpPr>
          <p:cNvPr id="1804068251"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Présente brièvement le contexte — projet Bank Manager, et annonce que tu vas parler de ta stratégie de co-dev avec l'IA.</a:t>
            </a:r>
            <a:endParaRPr sz="1200" b="0" i="0" u="none">
              <a:solidFill>
                <a:srgbClr val="000000"/>
              </a:solidFill>
              <a:latin typeface="Times New Roman"/>
              <a:ea typeface="Times New Roman"/>
              <a:cs typeface="Times New Roman"/>
            </a:endParaRPr>
          </a:p>
          <a:p>
            <a:pPr>
              <a:defRPr/>
            </a:pPr>
            <a:endParaRPr lang="en-US"/>
          </a:p>
          <a:p>
            <a:pPr>
              <a:defRPr/>
            </a:pPr>
            <a:r>
              <a:rPr sz="1200" b="0" i="0" u="none">
                <a:solidFill>
                  <a:srgbClr val="000000"/>
                </a:solidFill>
                <a:latin typeface="Times New Roman"/>
                <a:ea typeface="Times New Roman"/>
                <a:cs typeface="Times New Roman"/>
              </a:rPr>
              <a:t>Bonjour à tous. Je vais vous présenter ma stratégie de co-développement avec l'IA dans le cadre de mon projet fullstack : une application de gestion de comptes bancaires personnels, Bank Manager, développée avec React, Node.js, Express et MongoDB. L'idée n'était pas juste d'utiliser l'IA comme un moteur de recherche, mais vraiment de la faire participer au processus de développement, de l'architecture jusqu'au debug. Je vais vous montrer comment, concrètement, ça s'est passé.</a:t>
            </a:r>
            <a:endParaRPr lang="en-US"/>
          </a:p>
        </p:txBody>
      </p:sp>
      <p:sp>
        <p:nvSpPr>
          <p:cNvPr id="885589409"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4731091" name="Slide Image Placeholder 1"/>
          <p:cNvSpPr>
            <a:spLocks noChangeAspect="1" noGrp="1" noRot="1"/>
          </p:cNvSpPr>
          <p:nvPr>
            <p:ph type="sldImg"/>
          </p:nvPr>
        </p:nvSpPr>
        <p:spPr bwMode="auto"/>
      </p:sp>
      <p:sp>
        <p:nvSpPr>
          <p:cNvPr id="586568639" name="Notes Placeholder 2"/>
          <p:cNvSpPr>
            <a:spLocks noGrp="1"/>
          </p:cNvSpPr>
          <p:nvPr>
            <p:ph type="body" idx="1"/>
          </p:nvPr>
        </p:nvSpPr>
        <p:spPr bwMode="auto"/>
        <p:txBody>
          <a:bodyPr/>
          <a:lstStyle/>
          <a:p>
            <a:pPr>
              <a:defRPr/>
            </a:pPr>
            <a:r>
              <a:rPr sz="1200" b="1" i="0" u="none">
                <a:solidFill>
                  <a:srgbClr val="000000"/>
                </a:solidFill>
                <a:latin typeface="Times New Roman"/>
                <a:ea typeface="Times New Roman"/>
                <a:cs typeface="Times New Roman"/>
              </a:rPr>
              <a:t>Pourquoi l'IA ?</a:t>
            </a:r>
            <a:r>
              <a:rPr sz="1200" b="0" i="0" u="none">
                <a:solidFill>
                  <a:srgbClr val="000000"/>
                </a:solidFill>
                <a:latin typeface="Times New Roman"/>
                <a:ea typeface="Times New Roman"/>
                <a:cs typeface="Times New Roman"/>
              </a:rPr>
              <a:t> : Explique les 3 usages principaux — architecture/choix tech, planification des tâches, et aide au debug/front. Précise que tu as utilisé Claude (claude.ai) pour ces phases amont.</a:t>
            </a:r>
            <a:endParaRPr sz="1200" b="0" i="0" u="none">
              <a:solidFill>
                <a:srgbClr val="000000"/>
              </a:solidFill>
              <a:latin typeface="Times New Roman"/>
              <a:ea typeface="Times New Roman"/>
              <a:cs typeface="Times New Roman"/>
            </a:endParaRPr>
          </a:p>
          <a:p>
            <a:pPr>
              <a:defRPr/>
            </a:pPr>
            <a:endParaRPr lang="en-US"/>
          </a:p>
          <a:p>
            <a:pPr>
              <a:defRPr/>
            </a:pPr>
            <a:r>
              <a:rPr sz="1200" b="0" i="0" u="none">
                <a:solidFill>
                  <a:srgbClr val="000000"/>
                </a:solidFill>
                <a:latin typeface="Times New Roman"/>
                <a:ea typeface="Times New Roman"/>
                <a:cs typeface="Times New Roman"/>
              </a:rPr>
              <a:t>J'ai utilisé l'IA à trois moments clés du projet. D'abord sur l'</a:t>
            </a:r>
            <a:r>
              <a:rPr sz="1200" b="1" i="0" u="none">
                <a:solidFill>
                  <a:srgbClr val="000000"/>
                </a:solidFill>
                <a:latin typeface="Times New Roman"/>
                <a:ea typeface="Times New Roman"/>
                <a:cs typeface="Times New Roman"/>
              </a:rPr>
              <a:t>architecture</a:t>
            </a:r>
            <a:r>
              <a:rPr sz="1200" b="0" i="0" u="none">
                <a:solidFill>
                  <a:srgbClr val="000000"/>
                </a:solidFill>
                <a:latin typeface="Times New Roman"/>
                <a:ea typeface="Times New Roman"/>
                <a:cs typeface="Times New Roman"/>
              </a:rPr>
              <a:t> : choisir la stack, structurer le projet, choisir la base de données — des décisions structurantes que j'ai prises avec Claude comme interlocuteur. Ensuite sur la </a:t>
            </a:r>
            <a:r>
              <a:rPr sz="1200" b="1" i="0" u="none">
                <a:solidFill>
                  <a:srgbClr val="000000"/>
                </a:solidFill>
                <a:latin typeface="Times New Roman"/>
                <a:ea typeface="Times New Roman"/>
                <a:cs typeface="Times New Roman"/>
              </a:rPr>
              <a:t>planification</a:t>
            </a:r>
            <a:r>
              <a:rPr sz="1200" b="0" i="0" u="none">
                <a:solidFill>
                  <a:srgbClr val="000000"/>
                </a:solidFill>
                <a:latin typeface="Times New Roman"/>
                <a:ea typeface="Times New Roman"/>
                <a:cs typeface="Times New Roman"/>
              </a:rPr>
              <a:t> : découper le projet en tâches, prioriser les features, et mettre en place un backlog GitHub pour suivre l'avancement. Enfin, pendant le développement lui-même, pour le </a:t>
            </a:r>
            <a:r>
              <a:rPr sz="1200" b="1" i="0" u="none">
                <a:solidFill>
                  <a:srgbClr val="000000"/>
                </a:solidFill>
                <a:latin typeface="Times New Roman"/>
                <a:ea typeface="Times New Roman"/>
                <a:cs typeface="Times New Roman"/>
              </a:rPr>
              <a:t>debug</a:t>
            </a:r>
            <a:r>
              <a:rPr sz="1200" b="0" i="0" u="none">
                <a:solidFill>
                  <a:srgbClr val="000000"/>
                </a:solidFill>
                <a:latin typeface="Times New Roman"/>
                <a:ea typeface="Times New Roman"/>
                <a:cs typeface="Times New Roman"/>
              </a:rPr>
              <a:t> et la génération de composants UI. Sur ce dernier point notamment, c'est Claude qui m'a recommandé la stack frontend : React avec Vite, Tailwind CSS, shadcn/ui pour les composants, Recharts pour les graphiques et Axios pour les appels API. Des choix que j'ai ensuite validés et adoptés.</a:t>
            </a:r>
            <a:endParaRPr lang="en-US"/>
          </a:p>
        </p:txBody>
      </p:sp>
      <p:sp>
        <p:nvSpPr>
          <p:cNvPr id="455798791"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2898925" name="Slide Image Placeholder 1"/>
          <p:cNvSpPr>
            <a:spLocks noChangeAspect="1" noGrp="1" noRot="1"/>
          </p:cNvSpPr>
          <p:nvPr>
            <p:ph type="sldImg"/>
          </p:nvPr>
        </p:nvSpPr>
        <p:spPr bwMode="auto"/>
      </p:sp>
      <p:sp>
        <p:nvSpPr>
          <p:cNvPr id="878716249" name="Notes Placeholder 2"/>
          <p:cNvSpPr>
            <a:spLocks noGrp="1"/>
          </p:cNvSpPr>
          <p:nvPr>
            <p:ph type="body" idx="1"/>
          </p:nvPr>
        </p:nvSpPr>
        <p:spPr bwMode="auto"/>
        <p:txBody>
          <a:bodyPr/>
          <a:lstStyle/>
          <a:p>
            <a:pPr>
              <a:defRPr/>
            </a:pPr>
            <a:r>
              <a:rPr sz="1200" b="1" i="0" u="none">
                <a:solidFill>
                  <a:srgbClr val="000000"/>
                </a:solidFill>
                <a:latin typeface="Times New Roman"/>
                <a:ea typeface="Times New Roman"/>
                <a:cs typeface="Times New Roman"/>
              </a:rPr>
              <a:t>Architecture</a:t>
            </a:r>
            <a:r>
              <a:rPr sz="1200" b="0" i="0" u="none">
                <a:solidFill>
                  <a:srgbClr val="000000"/>
                </a:solidFill>
                <a:latin typeface="Times New Roman"/>
                <a:ea typeface="Times New Roman"/>
                <a:cs typeface="Times New Roman"/>
              </a:rPr>
              <a:t> : Montre concrètement ce que tu as demandé à l'IA et ce qu'elle a produit. Insiste sur ta contribution humaine : valider les choix, adapter au cahier des charges.</a:t>
            </a:r>
            <a:endParaRPr sz="1200" b="0" i="0" u="none">
              <a:solidFill>
                <a:srgbClr val="000000"/>
              </a:solidFill>
              <a:latin typeface="Times New Roman"/>
              <a:ea typeface="Times New Roman"/>
              <a:cs typeface="Times New Roman"/>
            </a:endParaRPr>
          </a:p>
          <a:p>
            <a:pPr>
              <a:defRPr/>
            </a:pPr>
            <a:endParaRPr lang="en-US"/>
          </a:p>
          <a:p>
            <a:pPr>
              <a:defRPr/>
            </a:pPr>
            <a:r>
              <a:rPr lang="en-US" sz="1200" b="0" i="0" u="none" strike="noStrike" cap="none" spc="0">
                <a:solidFill>
                  <a:srgbClr val="000000"/>
                </a:solidFill>
                <a:latin typeface="Times New Roman"/>
                <a:ea typeface="Times New Roman"/>
                <a:cs typeface="Times New Roman"/>
              </a:rPr>
              <a:t>Concrètement, voici comment ça s'est passé en phase amont. Je posais des questions précises à Claude : quelle stack pour un bank man</a:t>
            </a:r>
            <a:r>
              <a:rPr lang="en-US" sz="1200" b="0" i="0" u="none" strike="noStrike" cap="none" spc="0">
                <a:solidFill>
                  <a:srgbClr val="000000"/>
                </a:solidFill>
                <a:latin typeface="Times New Roman"/>
                <a:ea typeface="Times New Roman"/>
                <a:cs typeface="Times New Roman"/>
              </a:rPr>
              <a:t>ager ? Comment structurer les dossiers ? Comment modéliser les entités à partir de mon diagramme de classes ? Quelles routes API exposer ? Comment découper le projet en tâches ? Et en face, l'IA produisait des éléments directement exploitables : la structure MVC, les schémas Mongoose pour User, Account et Transaction, la liste des endpoints REST, et un plan de tâches priorisées. Ma contribution, c'était de valider ces propositions, de les adapter au cahier des charges, et d'arbitrer les compromis. L'IA proposait, moi je décidais.</a:t>
            </a:r>
            <a:endParaRPr lang="en-US"/>
          </a:p>
        </p:txBody>
      </p:sp>
      <p:sp>
        <p:nvSpPr>
          <p:cNvPr id="955811768"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3148460" name="Slide Image Placeholder 1"/>
          <p:cNvSpPr>
            <a:spLocks noChangeAspect="1" noGrp="1" noRot="1"/>
          </p:cNvSpPr>
          <p:nvPr>
            <p:ph type="sldImg"/>
          </p:nvPr>
        </p:nvSpPr>
        <p:spPr bwMode="auto"/>
      </p:sp>
      <p:sp>
        <p:nvSpPr>
          <p:cNvPr id="1454607161" name="Notes Placeholder 2"/>
          <p:cNvSpPr>
            <a:spLocks noGrp="1"/>
          </p:cNvSpPr>
          <p:nvPr>
            <p:ph type="body" idx="1"/>
          </p:nvPr>
        </p:nvSpPr>
        <p:spPr bwMode="auto"/>
        <p:txBody>
          <a:bodyPr/>
          <a:lstStyle/>
          <a:p>
            <a:pPr>
              <a:defRPr/>
            </a:pPr>
            <a:r>
              <a:rPr sz="1200" b="1" i="0" u="none">
                <a:solidFill>
                  <a:srgbClr val="000000"/>
                </a:solidFill>
                <a:latin typeface="Times New Roman"/>
                <a:ea typeface="Times New Roman"/>
                <a:cs typeface="Times New Roman"/>
              </a:rPr>
              <a:t>Le défi du contexte</a:t>
            </a:r>
            <a:r>
              <a:rPr sz="1200" b="0" i="0" u="none">
                <a:solidFill>
                  <a:srgbClr val="000000"/>
                </a:solidFill>
                <a:latin typeface="Times New Roman"/>
                <a:ea typeface="Times New Roman"/>
                <a:cs typeface="Times New Roman"/>
              </a:rPr>
              <a:t> : C'est le cœur de ton observation — l'IA hors IDE est aveugle au code existant. Tokens limités, réponses génériques, difficulté à intervenir en cours de projet.</a:t>
            </a:r>
            <a:endParaRPr sz="1200" b="0" i="0" u="none">
              <a:solidFill>
                <a:srgbClr val="000000"/>
              </a:solidFill>
              <a:latin typeface="Times New Roman"/>
              <a:ea typeface="Times New Roman"/>
              <a:cs typeface="Times New Roman"/>
            </a:endParaRPr>
          </a:p>
          <a:p>
            <a:pPr>
              <a:defRPr/>
            </a:pPr>
            <a:endParaRPr lang="en-US"/>
          </a:p>
          <a:p>
            <a:pPr>
              <a:defRPr/>
            </a:pPr>
            <a:r>
              <a:rPr lang="en-US" sz="1200" b="0" i="0" u="none" strike="noStrike" cap="none" spc="0">
                <a:solidFill>
                  <a:srgbClr val="000000"/>
                </a:solidFill>
                <a:latin typeface="Times New Roman"/>
                <a:ea typeface="Times New Roman"/>
                <a:cs typeface="Times New Roman"/>
              </a:rPr>
              <a:t>Mais assez vite, j'ai rencontré une limite importante. Une IA hors IDE comme Claude ou ChatGPT n'a </a:t>
            </a:r>
            <a:r>
              <a:rPr lang="en-US" sz="1200" b="1" i="0" u="none" strike="noStrike" cap="none" spc="0">
                <a:solidFill>
                  <a:srgbClr val="000000"/>
                </a:solidFill>
                <a:latin typeface="Times New Roman"/>
                <a:ea typeface="Times New Roman"/>
                <a:cs typeface="Times New Roman"/>
              </a:rPr>
              <a:t>pas accès à mon code</a:t>
            </a:r>
            <a:r>
              <a:rPr lang="en-US" sz="1200" b="0" i="0" u="none" strike="noStrike" cap="none" spc="0">
                <a:solidFill>
                  <a:srgbClr val="000000"/>
                </a:solidFill>
                <a:latin typeface="Times New Roman"/>
                <a:ea typeface="Times New Roman"/>
                <a:cs typeface="Times New Roman"/>
              </a:rPr>
              <a:t>. Elle ne voit que ce que je lui envoie. Et avec un abonnement gratuit, les tokens sont limités — impossible de lui coller l'intégralité d'un projet. Résultat : quand je lui posais une question sur un bug précis, elle répondait de manière générique, sans connaître le contexte réel de mon code. Et j'ai remarqué quelque chose d'important : </a:t>
            </a:r>
            <a:r>
              <a:rPr lang="en-US" sz="1200" b="1" i="0" u="none" strike="noStrike" cap="none" spc="0">
                <a:solidFill>
                  <a:srgbClr val="000000"/>
                </a:solidFill>
                <a:latin typeface="Times New Roman"/>
                <a:ea typeface="Times New Roman"/>
                <a:cs typeface="Times New Roman"/>
              </a:rPr>
              <a:t>démarrer un projet de zéro avec l'IA, c'est simple.</a:t>
            </a:r>
            <a:r>
              <a:rPr lang="en-US" sz="1200" b="0" i="0" u="none" strike="noStrike" cap="none" spc="0">
                <a:solidFill>
                  <a:srgbClr val="000000"/>
                </a:solidFill>
                <a:latin typeface="Times New Roman"/>
                <a:ea typeface="Times New Roman"/>
                <a:cs typeface="Times New Roman"/>
              </a:rPr>
              <a:t> Mais intervenir en cours de route sur du code existant, c'est beaucoup plus compliqué. Ce que j'en retiens, c'est que le contexte est la clé. Sans contexte, l'IA répond à côté. Avec le bon contexte, elle devient vraiment pertinente.</a:t>
            </a:r>
            <a:endParaRPr lang="en-US"/>
          </a:p>
        </p:txBody>
      </p:sp>
      <p:sp>
        <p:nvSpPr>
          <p:cNvPr id="1928557299"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9014511" name="Slide Image Placeholder 1"/>
          <p:cNvSpPr>
            <a:spLocks noChangeAspect="1" noGrp="1" noRot="1"/>
          </p:cNvSpPr>
          <p:nvPr>
            <p:ph type="sldImg"/>
          </p:nvPr>
        </p:nvSpPr>
        <p:spPr bwMode="auto"/>
      </p:sp>
      <p:sp>
        <p:nvSpPr>
          <p:cNvPr id="962047798" name="Notes Placeholder 2"/>
          <p:cNvSpPr>
            <a:spLocks noGrp="1"/>
          </p:cNvSpPr>
          <p:nvPr>
            <p:ph type="body" idx="1"/>
          </p:nvPr>
        </p:nvSpPr>
        <p:spPr bwMode="auto"/>
        <p:txBody>
          <a:bodyPr/>
          <a:lstStyle/>
          <a:p>
            <a:pPr>
              <a:defRPr/>
            </a:pPr>
            <a:r>
              <a:rPr sz="1200" b="1" i="0" u="none">
                <a:solidFill>
                  <a:srgbClr val="000000"/>
                </a:solidFill>
                <a:latin typeface="Times New Roman"/>
                <a:ea typeface="Times New Roman"/>
                <a:cs typeface="Times New Roman"/>
              </a:rPr>
              <a:t>Solution : GitHub Copilot</a:t>
            </a:r>
            <a:r>
              <a:rPr sz="1200" b="0" i="0" u="none">
                <a:solidFill>
                  <a:srgbClr val="000000"/>
                </a:solidFill>
                <a:latin typeface="Times New Roman"/>
                <a:ea typeface="Times New Roman"/>
                <a:cs typeface="Times New Roman"/>
              </a:rPr>
              <a:t> : Explique pourquoi tu as basculé sur Copilot dans VS Code — il lit le code ouvert automatiquement, tu n'as plus à tout copier-coller. Résultat : aide au bon moment, au bon endroit.</a:t>
            </a:r>
            <a:endParaRPr sz="1200" b="0" i="0" u="none">
              <a:solidFill>
                <a:srgbClr val="000000"/>
              </a:solidFill>
              <a:latin typeface="Times New Roman"/>
              <a:ea typeface="Times New Roman"/>
              <a:cs typeface="Times New Roman"/>
            </a:endParaRPr>
          </a:p>
          <a:p>
            <a:pPr>
              <a:defRPr/>
            </a:pPr>
            <a:endParaRPr lang="en-US"/>
          </a:p>
          <a:p>
            <a:pPr>
              <a:defRPr/>
            </a:pPr>
            <a:r>
              <a:rPr sz="1200" b="0" i="0" u="none">
                <a:solidFill>
                  <a:srgbClr val="000000"/>
                </a:solidFill>
                <a:latin typeface="Times New Roman"/>
                <a:ea typeface="Times New Roman"/>
                <a:cs typeface="Times New Roman"/>
              </a:rPr>
              <a:t>C'est ce constat qui m'a poussé à adopter </a:t>
            </a:r>
            <a:r>
              <a:rPr sz="1200" b="1" i="0" u="none">
                <a:solidFill>
                  <a:srgbClr val="000000"/>
                </a:solidFill>
                <a:latin typeface="Times New Roman"/>
                <a:ea typeface="Times New Roman"/>
                <a:cs typeface="Times New Roman"/>
              </a:rPr>
              <a:t>GitHub Copilot directement dans VS Code</a:t>
            </a:r>
            <a:r>
              <a:rPr sz="1200" b="0" i="0" u="none">
                <a:solidFill>
                  <a:srgbClr val="000000"/>
                </a:solidFill>
                <a:latin typeface="Times New Roman"/>
                <a:ea typeface="Times New Roman"/>
                <a:cs typeface="Times New Roman"/>
              </a:rPr>
              <a:t>. La différence fondamentale, c'est le contexte automatique : Copilot lit les fichiers que j'ai ouverts, il connaît mon code, il sait dans quel fichier je suis. Le chat contextuel me permet de lui poser des questions sur un fichier précis sans rien copier-coller. Pour le debug, il suggère des corrections directement dans le code, en ligne. Et pour l'écriture, l'autocomplétion accélère significativement le </a:t>
            </a:r>
            <a:r>
              <a:rPr lang="fr-FR" sz="1200" b="0" i="0" u="none">
                <a:solidFill>
                  <a:srgbClr val="000000"/>
                </a:solidFill>
                <a:latin typeface="Times New Roman"/>
                <a:ea typeface="Times New Roman"/>
                <a:cs typeface="Times New Roman"/>
              </a:rPr>
              <a:t>développement</a:t>
            </a:r>
            <a:r>
              <a:rPr sz="1200" b="0" i="0" u="none">
                <a:solidFill>
                  <a:srgbClr val="000000"/>
                </a:solidFill>
                <a:latin typeface="Times New Roman"/>
                <a:ea typeface="Times New Roman"/>
                <a:cs typeface="Times New Roman"/>
              </a:rPr>
              <a:t>. Résultat : une aide au bon moment, au bon endroit,</a:t>
            </a:r>
            <a:r>
              <a:rPr lang="fr-FR" sz="1200" b="0" i="0" u="none">
                <a:solidFill>
                  <a:srgbClr val="000000"/>
                </a:solidFill>
                <a:latin typeface="Times New Roman"/>
                <a:ea typeface="Times New Roman"/>
                <a:cs typeface="Times New Roman"/>
              </a:rPr>
              <a:t> ce qui augmente la productivité</a:t>
            </a:r>
            <a:r>
              <a:rPr sz="1200" b="0" i="0" u="none">
                <a:solidFill>
                  <a:srgbClr val="000000"/>
                </a:solidFill>
                <a:latin typeface="Times New Roman"/>
                <a:ea typeface="Times New Roman"/>
                <a:cs typeface="Times New Roman"/>
              </a:rPr>
              <a:t>.</a:t>
            </a:r>
            <a:endParaRPr lang="en-US"/>
          </a:p>
        </p:txBody>
      </p:sp>
      <p:sp>
        <p:nvSpPr>
          <p:cNvPr id="1063681095"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8410108" name="Slide Image Placeholder 1"/>
          <p:cNvSpPr>
            <a:spLocks noChangeAspect="1" noGrp="1" noRot="1"/>
          </p:cNvSpPr>
          <p:nvPr>
            <p:ph type="sldImg"/>
          </p:nvPr>
        </p:nvSpPr>
        <p:spPr bwMode="auto"/>
      </p:sp>
      <p:sp>
        <p:nvSpPr>
          <p:cNvPr id="411930615" name="Notes Placeholder 2"/>
          <p:cNvSpPr>
            <a:spLocks noGrp="1"/>
          </p:cNvSpPr>
          <p:nvPr>
            <p:ph type="body" idx="1"/>
          </p:nvPr>
        </p:nvSpPr>
        <p:spPr bwMode="auto"/>
        <p:txBody>
          <a:bodyPr/>
          <a:lstStyle/>
          <a:p>
            <a:pPr>
              <a:defRPr/>
            </a:pPr>
            <a:r>
              <a:rPr lang="fr-FR" sz="1200" b="1" i="0" u="none">
                <a:solidFill>
                  <a:srgbClr val="000000"/>
                </a:solidFill>
                <a:latin typeface="Times New Roman"/>
                <a:ea typeface="Times New Roman"/>
                <a:cs typeface="Times New Roman"/>
              </a:rPr>
              <a:t>Bilan critique</a:t>
            </a:r>
            <a:r>
              <a:rPr lang="fr-FR" sz="1200" b="0" i="0" u="none">
                <a:solidFill>
                  <a:srgbClr val="000000"/>
                </a:solidFill>
                <a:latin typeface="Times New Roman"/>
                <a:ea typeface="Times New Roman"/>
                <a:cs typeface="Times New Roman"/>
              </a:rPr>
              <a:t> : Conclure avec honnêteté — gains réels sur l'architecture et le debug, mais la validation humaine reste indispensable. Phrase de clôture : </a:t>
            </a:r>
            <a:r>
              <a:rPr lang="fr-FR" sz="1200" b="0" i="1" u="none">
                <a:solidFill>
                  <a:srgbClr val="000000"/>
                </a:solidFill>
                <a:latin typeface="Times New Roman"/>
                <a:ea typeface="Times New Roman"/>
                <a:cs typeface="Times New Roman"/>
              </a:rPr>
              <a:t>"L'IA est un outil puissant, mais c'est le développeur qui garde le cap."</a:t>
            </a:r>
            <a:endParaRPr lang="fr-FR" sz="1200" b="0" i="1" u="none">
              <a:solidFill>
                <a:srgbClr val="000000"/>
              </a:solidFill>
              <a:latin typeface="Times New Roman"/>
              <a:ea typeface="Times New Roman"/>
              <a:cs typeface="Times New Roman"/>
            </a:endParaRPr>
          </a:p>
          <a:p>
            <a:pPr>
              <a:defRPr/>
            </a:pPr>
            <a:endParaRPr lang="en-US"/>
          </a:p>
          <a:p>
            <a:pPr>
              <a:defRPr/>
            </a:pPr>
            <a:r>
              <a:rPr sz="1200" b="0" i="0" u="none">
                <a:solidFill>
                  <a:srgbClr val="000000"/>
                </a:solidFill>
                <a:latin typeface="Times New Roman"/>
                <a:ea typeface="Times New Roman"/>
                <a:cs typeface="Times New Roman"/>
              </a:rPr>
              <a:t>Pour conclure, voici mon bilan honnête. Côté points forts : l'IA m'a fait gagner beaucoup de temps sur la phase d'architecture, elle a joué le rôle de sparring partner pour les choix techniques, Copilot a été efficace sur le debug et l'autocomplétion, et le projet a été bien structuré dès le départ grâce à ça. Côté limites : corriger du code existant hors IDE reste difficile, les réponses sans contexte sont souvent trop génériques, les tokens gratuits sont vite une contrainte, et surtout — </a:t>
            </a:r>
            <a:r>
              <a:rPr sz="1200" b="1" i="0" u="none">
                <a:solidFill>
                  <a:srgbClr val="000000"/>
                </a:solidFill>
                <a:latin typeface="Times New Roman"/>
                <a:ea typeface="Times New Roman"/>
                <a:cs typeface="Times New Roman"/>
              </a:rPr>
              <a:t>la validation humaine reste indispensable à chaque étape</a:t>
            </a:r>
            <a:r>
              <a:rPr sz="1200" b="0" i="0" u="none">
                <a:solidFill>
                  <a:srgbClr val="000000"/>
                </a:solidFill>
                <a:latin typeface="Times New Roman"/>
                <a:ea typeface="Times New Roman"/>
                <a:cs typeface="Times New Roman"/>
              </a:rPr>
              <a:t>. L'IA ne remplace pas le jugement du développeur, elle l'assiste.</a:t>
            </a:r>
            <a:endParaRPr lang="en-US"/>
          </a:p>
        </p:txBody>
      </p:sp>
      <p:sp>
        <p:nvSpPr>
          <p:cNvPr id="1598271315"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1"/>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media1.sv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0D1B2A"/>
        </a:solidFill>
      </p:bgPr>
    </p:bg>
    <p:spTree>
      <p:nvGrpSpPr>
        <p:cNvPr id="1" name=""/>
        <p:cNvGrpSpPr/>
        <p:nvPr/>
      </p:nvGrpSpPr>
      <p:grpSpPr bwMode="auto">
        <a:xfrm>
          <a:off x="0" y="0"/>
          <a:ext cx="0" cy="0"/>
          <a:chOff x="0" y="0"/>
          <a:chExt cx="0" cy="0"/>
        </a:xfrm>
      </p:grpSpPr>
      <p:sp>
        <p:nvSpPr>
          <p:cNvPr id="525045819" name="Shape 0"/>
          <p:cNvSpPr/>
          <p:nvPr/>
        </p:nvSpPr>
        <p:spPr bwMode="auto">
          <a:xfrm>
            <a:off x="0" y="0"/>
            <a:ext cx="109728" cy="5143500"/>
          </a:xfrm>
          <a:prstGeom prst="rect">
            <a:avLst/>
          </a:prstGeom>
          <a:solidFill>
            <a:srgbClr val="00B4D8"/>
          </a:solidFill>
          <a:ln w="12700">
            <a:solidFill>
              <a:srgbClr val="00B4D8"/>
            </a:solidFill>
            <a:prstDash val="solid"/>
          </a:ln>
        </p:spPr>
      </p:sp>
      <p:sp>
        <p:nvSpPr>
          <p:cNvPr id="267583435" name="Text 1"/>
          <p:cNvSpPr/>
          <p:nvPr/>
        </p:nvSpPr>
        <p:spPr bwMode="auto">
          <a:xfrm>
            <a:off x="365760" y="731520"/>
            <a:ext cx="5943600" cy="2286000"/>
          </a:xfrm>
          <a:prstGeom prst="rect">
            <a:avLst/>
          </a:prstGeom>
          <a:noFill/>
          <a:ln/>
        </p:spPr>
        <p:txBody>
          <a:bodyPr wrap="square" rtlCol="0" anchor="ctr"/>
          <a:lstStyle/>
          <a:p>
            <a:pPr marL="0" indent="0" algn="l">
              <a:lnSpc>
                <a:spcPct val="114999"/>
              </a:lnSpc>
              <a:buNone/>
              <a:defRPr/>
            </a:pPr>
            <a:r>
              <a:rPr lang="en-US" sz="4000" b="1">
                <a:solidFill>
                  <a:srgbClr val="FFFFFF"/>
                </a:solidFill>
                <a:latin typeface="Calibri"/>
                <a:ea typeface="Calibri"/>
                <a:cs typeface="Calibri"/>
              </a:rPr>
              <a:t>Co-développement</a:t>
            </a:r>
            <a:endParaRPr lang="en-US" sz="4000"/>
          </a:p>
          <a:p>
            <a:pPr marL="0" indent="0" algn="l">
              <a:lnSpc>
                <a:spcPct val="114999"/>
              </a:lnSpc>
              <a:buNone/>
              <a:defRPr/>
            </a:pPr>
            <a:r>
              <a:rPr lang="en-US" sz="4000" b="1">
                <a:solidFill>
                  <a:srgbClr val="FFFFFF"/>
                </a:solidFill>
                <a:latin typeface="Calibri"/>
                <a:ea typeface="Calibri"/>
                <a:cs typeface="Calibri"/>
              </a:rPr>
              <a:t>Humain-IA</a:t>
            </a:r>
            <a:endParaRPr lang="en-US" sz="4000"/>
          </a:p>
        </p:txBody>
      </p:sp>
      <p:sp>
        <p:nvSpPr>
          <p:cNvPr id="222980946" name="Text 2"/>
          <p:cNvSpPr/>
          <p:nvPr/>
        </p:nvSpPr>
        <p:spPr bwMode="auto">
          <a:xfrm>
            <a:off x="365760" y="3017519"/>
            <a:ext cx="5943600" cy="640080"/>
          </a:xfrm>
          <a:prstGeom prst="rect">
            <a:avLst/>
          </a:prstGeom>
          <a:noFill/>
          <a:ln/>
        </p:spPr>
        <p:txBody>
          <a:bodyPr wrap="square" rtlCol="0" anchor="ctr"/>
          <a:lstStyle/>
          <a:p>
            <a:pPr marL="0" indent="0" algn="l">
              <a:buNone/>
              <a:defRPr/>
            </a:pPr>
            <a:r>
              <a:rPr lang="en-US" sz="1600" i="1">
                <a:solidFill>
                  <a:srgbClr val="CADCFC"/>
                </a:solidFill>
                <a:latin typeface="Calibri"/>
                <a:ea typeface="Calibri"/>
                <a:cs typeface="Calibri"/>
              </a:rPr>
              <a:t>Stratégie d'intégration de l'IA dans un projet fullstack</a:t>
            </a:r>
            <a:endParaRPr lang="en-US" sz="1600"/>
          </a:p>
        </p:txBody>
      </p:sp>
      <p:sp>
        <p:nvSpPr>
          <p:cNvPr id="636267918" name="Shape 3"/>
          <p:cNvSpPr/>
          <p:nvPr/>
        </p:nvSpPr>
        <p:spPr bwMode="auto">
          <a:xfrm flipH="0" flipV="0">
            <a:off x="5273660" y="1097279"/>
            <a:ext cx="3596017" cy="2560319"/>
          </a:xfrm>
          <a:prstGeom prst="rect">
            <a:avLst/>
          </a:prstGeom>
          <a:solidFill>
            <a:srgbClr val="1565C0">
              <a:alpha val="80000"/>
            </a:srgbClr>
          </a:solidFill>
          <a:ln w="19050">
            <a:solidFill>
              <a:srgbClr val="00B4D8"/>
            </a:solidFill>
            <a:prstDash val="solid"/>
          </a:ln>
          <a:effectLst>
            <a:outerShdw blurRad="101600" dist="38100" dir="8100000" sx="100000" sy="100000" kx="0" ky="0" algn="bl" rotWithShape="0">
              <a:srgbClr val="000000">
                <a:alpha val="18000"/>
              </a:srgbClr>
            </a:outerShdw>
          </a:effectLst>
        </p:spPr>
        <p:txBody>
          <a:bodyPr anchor="ctr"/>
          <a:p>
            <a:pPr algn="ctr">
              <a:defRPr/>
            </a:pPr>
            <a:endParaRPr/>
          </a:p>
        </p:txBody>
      </p:sp>
      <p:sp>
        <p:nvSpPr>
          <p:cNvPr id="1419038116" name="Text 5"/>
          <p:cNvSpPr/>
          <p:nvPr/>
        </p:nvSpPr>
        <p:spPr bwMode="auto">
          <a:xfrm flipH="0" flipV="0">
            <a:off x="5421232" y="2103119"/>
            <a:ext cx="3448447" cy="822960"/>
          </a:xfrm>
          <a:prstGeom prst="rect">
            <a:avLst/>
          </a:prstGeom>
          <a:noFill/>
          <a:ln/>
        </p:spPr>
        <p:txBody>
          <a:bodyPr wrap="square" rtlCol="0" anchor="ctr"/>
          <a:lstStyle/>
          <a:p>
            <a:pPr marL="0" indent="0" algn="ctr">
              <a:buNone/>
              <a:defRPr/>
            </a:pPr>
            <a:r>
              <a:rPr lang="en-US" sz="1600" b="1">
                <a:solidFill>
                  <a:srgbClr val="FFFFFF"/>
                </a:solidFill>
                <a:latin typeface="Calibri"/>
                <a:ea typeface="Calibri"/>
                <a:cs typeface="Calibri"/>
              </a:rPr>
              <a:t>Bank</a:t>
            </a:r>
            <a:endParaRPr lang="en-US" sz="1600"/>
          </a:p>
          <a:p>
            <a:pPr marL="0" indent="0" algn="ctr">
              <a:buNone/>
              <a:defRPr/>
            </a:pPr>
            <a:r>
              <a:rPr lang="en-US" sz="1600" b="1">
                <a:solidFill>
                  <a:srgbClr val="FFFFFF"/>
                </a:solidFill>
                <a:latin typeface="Calibri"/>
                <a:ea typeface="Calibri"/>
                <a:cs typeface="Calibri"/>
              </a:rPr>
              <a:t>Manager</a:t>
            </a:r>
            <a:endParaRPr lang="en-US" sz="1600"/>
          </a:p>
        </p:txBody>
      </p:sp>
      <p:sp>
        <p:nvSpPr>
          <p:cNvPr id="1254518353" name="Text 6"/>
          <p:cNvSpPr/>
          <p:nvPr/>
        </p:nvSpPr>
        <p:spPr bwMode="auto">
          <a:xfrm flipH="0" flipV="0">
            <a:off x="5421232" y="2926080"/>
            <a:ext cx="3448447" cy="822960"/>
          </a:xfrm>
          <a:prstGeom prst="rect">
            <a:avLst/>
          </a:prstGeom>
          <a:noFill/>
          <a:ln/>
        </p:spPr>
        <p:txBody>
          <a:bodyPr wrap="square" rtlCol="0" anchor="ctr"/>
          <a:lstStyle/>
          <a:p>
            <a:pPr marL="0" indent="0" algn="ctr">
              <a:buNone/>
              <a:defRPr/>
            </a:pPr>
            <a:r>
              <a:rPr lang="en-US" sz="1100">
                <a:solidFill>
                  <a:srgbClr val="CADCFC"/>
                </a:solidFill>
                <a:latin typeface="Calibri"/>
                <a:ea typeface="Calibri"/>
                <a:cs typeface="Calibri"/>
              </a:rPr>
              <a:t>Projet Fullstack</a:t>
            </a:r>
            <a:endParaRPr lang="en-US" sz="1100"/>
          </a:p>
          <a:p>
            <a:pPr marL="0" indent="0" algn="ctr">
              <a:buNone/>
              <a:defRPr/>
            </a:pPr>
            <a:r>
              <a:rPr lang="fr-FR" sz="1100">
                <a:solidFill>
                  <a:srgbClr val="CADCFC"/>
                </a:solidFill>
                <a:latin typeface="Calibri"/>
                <a:ea typeface="Calibri"/>
                <a:cs typeface="Calibri"/>
              </a:rPr>
              <a:t>MongoDB /Express</a:t>
            </a:r>
            <a:r>
              <a:rPr lang="en-US" sz="1100">
                <a:solidFill>
                  <a:srgbClr val="CADCFC"/>
                </a:solidFill>
                <a:latin typeface="Calibri"/>
                <a:ea typeface="Calibri"/>
                <a:cs typeface="Calibri"/>
              </a:rPr>
              <a:t> / Node</a:t>
            </a:r>
            <a:r>
              <a:rPr lang="fr-FR" sz="1100">
                <a:solidFill>
                  <a:srgbClr val="CADCFC"/>
                </a:solidFill>
                <a:latin typeface="Calibri"/>
                <a:ea typeface="Calibri"/>
                <a:cs typeface="Calibri"/>
              </a:rPr>
              <a:t>JS</a:t>
            </a:r>
            <a:r>
              <a:rPr lang="en-US" sz="1100">
                <a:solidFill>
                  <a:srgbClr val="CADCFC"/>
                </a:solidFill>
                <a:latin typeface="Calibri"/>
                <a:ea typeface="Calibri"/>
                <a:cs typeface="Calibri"/>
              </a:rPr>
              <a:t> / React</a:t>
            </a:r>
            <a:endParaRPr lang="en-US" sz="1100"/>
          </a:p>
        </p:txBody>
      </p:sp>
      <p:sp>
        <p:nvSpPr>
          <p:cNvPr id="266513025" name="Text 7"/>
          <p:cNvSpPr/>
          <p:nvPr/>
        </p:nvSpPr>
        <p:spPr bwMode="auto">
          <a:xfrm>
            <a:off x="365760" y="4663440"/>
            <a:ext cx="8412480" cy="365760"/>
          </a:xfrm>
          <a:prstGeom prst="rect">
            <a:avLst/>
          </a:prstGeom>
          <a:noFill/>
          <a:ln/>
        </p:spPr>
        <p:txBody>
          <a:bodyPr wrap="square" rtlCol="0" anchor="ctr"/>
          <a:lstStyle/>
          <a:p>
            <a:pPr marL="0" indent="0" algn="r">
              <a:buNone/>
              <a:defRPr/>
            </a:pPr>
            <a:r>
              <a:rPr lang="fr-FR" sz="1100">
                <a:solidFill>
                  <a:srgbClr val="94A3B8"/>
                </a:solidFill>
                <a:latin typeface="Calibri"/>
                <a:ea typeface="Calibri"/>
                <a:cs typeface="Calibri"/>
              </a:rPr>
              <a:t>Alexandre KERELLO </a:t>
            </a:r>
            <a:r>
              <a:rPr lang="en-US" sz="1100">
                <a:solidFill>
                  <a:srgbClr val="94A3B8"/>
                </a:solidFill>
                <a:latin typeface="Calibri"/>
                <a:ea typeface="Calibri"/>
                <a:cs typeface="Calibri"/>
              </a:rPr>
              <a:t>– </a:t>
            </a:r>
            <a:r>
              <a:rPr lang="fr-FR" sz="1100">
                <a:solidFill>
                  <a:srgbClr val="94A3B8"/>
                </a:solidFill>
                <a:latin typeface="Calibri"/>
                <a:ea typeface="Calibri"/>
                <a:cs typeface="Calibri"/>
              </a:rPr>
              <a:t>25 </a:t>
            </a:r>
            <a:r>
              <a:rPr lang="fr-FR" sz="1100">
                <a:solidFill>
                  <a:srgbClr val="94A3B8"/>
                </a:solidFill>
                <a:latin typeface="Calibri"/>
                <a:ea typeface="Calibri"/>
                <a:cs typeface="Calibri"/>
              </a:rPr>
              <a:t>m</a:t>
            </a:r>
            <a:r>
              <a:rPr lang="en-US" sz="1100">
                <a:solidFill>
                  <a:srgbClr val="94A3B8"/>
                </a:solidFill>
                <a:latin typeface="Calibri"/>
                <a:ea typeface="Calibri"/>
                <a:cs typeface="Calibri"/>
              </a:rPr>
              <a:t>ars 2026</a:t>
            </a:r>
            <a:endParaRPr lang="en-US" sz="1100"/>
          </a:p>
        </p:txBody>
      </p:sp>
      <p:pic>
        <p:nvPicPr>
          <p:cNvPr id="1324634725" name=""/>
          <p:cNvPicPr>
            <a:picLocks noChangeAspect="1"/>
          </p:cNvPicPr>
          <p:nvPr/>
        </p:nvPicPr>
        <p:blipFill rotWithShape="1">
          <a:blip r:embed="rId3"/>
          <a:stretch/>
        </p:blipFill>
        <p:spPr bwMode="auto">
          <a:xfrm flipH="0" flipV="0">
            <a:off x="5357856" y="1211341"/>
            <a:ext cx="3427626" cy="171473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EEF2F7"/>
        </a:solidFill>
      </p:bgPr>
    </p:bg>
    <p:spTree>
      <p:nvGrpSpPr>
        <p:cNvPr id="1" name=""/>
        <p:cNvGrpSpPr/>
        <p:nvPr/>
      </p:nvGrpSpPr>
      <p:grpSpPr bwMode="auto">
        <a:xfrm>
          <a:off x="0" y="0"/>
          <a:ext cx="0" cy="0"/>
          <a:chOff x="0" y="0"/>
          <a:chExt cx="0" cy="0"/>
        </a:xfrm>
      </p:grpSpPr>
      <p:sp>
        <p:nvSpPr>
          <p:cNvPr id="950982510" name="Shape 0"/>
          <p:cNvSpPr/>
          <p:nvPr/>
        </p:nvSpPr>
        <p:spPr bwMode="auto">
          <a:xfrm>
            <a:off x="0" y="0"/>
            <a:ext cx="9144000" cy="1005840"/>
          </a:xfrm>
          <a:prstGeom prst="rect">
            <a:avLst/>
          </a:prstGeom>
          <a:solidFill>
            <a:srgbClr val="0D1B2A"/>
          </a:solidFill>
          <a:ln w="12700">
            <a:solidFill>
              <a:srgbClr val="0D1B2A"/>
            </a:solidFill>
            <a:prstDash val="solid"/>
          </a:ln>
        </p:spPr>
      </p:sp>
      <p:sp>
        <p:nvSpPr>
          <p:cNvPr id="1203318594" name="Text 1"/>
          <p:cNvSpPr/>
          <p:nvPr/>
        </p:nvSpPr>
        <p:spPr bwMode="auto">
          <a:xfrm>
            <a:off x="365760" y="0"/>
            <a:ext cx="8412480" cy="1005840"/>
          </a:xfrm>
          <a:prstGeom prst="rect">
            <a:avLst/>
          </a:prstGeom>
          <a:noFill/>
          <a:ln/>
        </p:spPr>
        <p:txBody>
          <a:bodyPr wrap="square" rtlCol="0" anchor="ctr"/>
          <a:lstStyle/>
          <a:p>
            <a:pPr marL="0" indent="0">
              <a:buNone/>
              <a:defRPr/>
            </a:pPr>
            <a:r>
              <a:rPr lang="en-US" sz="2200" b="1">
                <a:solidFill>
                  <a:srgbClr val="FFFFFF"/>
                </a:solidFill>
                <a:latin typeface="Calibri"/>
                <a:ea typeface="Calibri"/>
                <a:cs typeface="Calibri"/>
              </a:rPr>
              <a:t>Pourquoi et comment intégrer l'IA ?</a:t>
            </a:r>
            <a:endParaRPr lang="en-US" sz="2200"/>
          </a:p>
        </p:txBody>
      </p:sp>
      <p:sp>
        <p:nvSpPr>
          <p:cNvPr id="1637729191" name="Shape 2"/>
          <p:cNvSpPr/>
          <p:nvPr/>
        </p:nvSpPr>
        <p:spPr bwMode="auto">
          <a:xfrm flipH="0" flipV="0">
            <a:off x="251460" y="1353311"/>
            <a:ext cx="2651760" cy="3693266"/>
          </a:xfrm>
          <a:prstGeom prst="rect">
            <a:avLst/>
          </a:prstGeom>
          <a:solidFill>
            <a:srgbClr val="FFFFFF"/>
          </a:solidFill>
          <a:ln w="12700">
            <a:solidFill>
              <a:srgbClr val="D0DCF0"/>
            </a:solidFill>
            <a:prstDash val="solid"/>
          </a:ln>
          <a:effectLst>
            <a:outerShdw blurRad="101600" dist="38100" dir="8100000" sx="100000" sy="100000" kx="0" ky="0" algn="bl" rotWithShape="0">
              <a:srgbClr val="000000">
                <a:alpha val="18000"/>
              </a:srgbClr>
            </a:outerShdw>
          </a:effectLst>
        </p:spPr>
      </p:sp>
      <p:sp>
        <p:nvSpPr>
          <p:cNvPr id="1087432485" name="Shape 3"/>
          <p:cNvSpPr/>
          <p:nvPr/>
        </p:nvSpPr>
        <p:spPr bwMode="auto">
          <a:xfrm>
            <a:off x="274320" y="1280160"/>
            <a:ext cx="2651760" cy="73152"/>
          </a:xfrm>
          <a:prstGeom prst="rect">
            <a:avLst/>
          </a:prstGeom>
          <a:solidFill>
            <a:srgbClr val="00B4D8"/>
          </a:solidFill>
          <a:ln w="12700">
            <a:solidFill>
              <a:srgbClr val="00B4D8"/>
            </a:solidFill>
            <a:prstDash val="solid"/>
          </a:ln>
        </p:spPr>
      </p:sp>
      <p:sp>
        <p:nvSpPr>
          <p:cNvPr id="813084297" name="Text 5"/>
          <p:cNvSpPr/>
          <p:nvPr/>
        </p:nvSpPr>
        <p:spPr bwMode="auto">
          <a:xfrm>
            <a:off x="274320" y="2131995"/>
            <a:ext cx="2651760" cy="548640"/>
          </a:xfrm>
          <a:prstGeom prst="rect">
            <a:avLst/>
          </a:prstGeom>
          <a:noFill/>
          <a:ln/>
        </p:spPr>
        <p:txBody>
          <a:bodyPr wrap="square" rtlCol="0" anchor="ctr"/>
          <a:lstStyle/>
          <a:p>
            <a:pPr marL="0" indent="0" algn="ctr">
              <a:buNone/>
              <a:defRPr/>
            </a:pPr>
            <a:r>
              <a:rPr lang="en-US" sz="1500" b="1">
                <a:solidFill>
                  <a:srgbClr val="0D1B2A"/>
                </a:solidFill>
                <a:latin typeface="Calibri"/>
                <a:ea typeface="Calibri"/>
                <a:cs typeface="Calibri"/>
              </a:rPr>
              <a:t>Architecture</a:t>
            </a:r>
            <a:endParaRPr lang="en-US" sz="1500"/>
          </a:p>
        </p:txBody>
      </p:sp>
      <p:sp>
        <p:nvSpPr>
          <p:cNvPr id="1144873186" name="Text 6"/>
          <p:cNvSpPr/>
          <p:nvPr/>
        </p:nvSpPr>
        <p:spPr bwMode="auto">
          <a:xfrm flipH="0" flipV="0">
            <a:off x="365759" y="2680635"/>
            <a:ext cx="2423160" cy="2365943"/>
          </a:xfrm>
          <a:prstGeom prst="rect">
            <a:avLst/>
          </a:prstGeom>
          <a:noFill/>
          <a:ln/>
        </p:spPr>
        <p:txBody>
          <a:bodyPr wrap="square" rtlCol="0" anchor="t"/>
          <a:lstStyle/>
          <a:p>
            <a:pPr marL="217793" lvl="0" indent="-217793" algn="l">
              <a:buFont typeface="Arial"/>
              <a:buChar char="•"/>
              <a:defRPr/>
            </a:pPr>
            <a:r>
              <a:rPr lang="fr-FR" sz="1200">
                <a:solidFill>
                  <a:srgbClr val="334155"/>
                </a:solidFill>
                <a:latin typeface="Calibri"/>
                <a:ea typeface="Calibri"/>
                <a:cs typeface="Calibri"/>
              </a:rPr>
              <a:t>Etude &amp; choix de l</a:t>
            </a:r>
            <a:r>
              <a:rPr lang="en-US" sz="1200">
                <a:solidFill>
                  <a:srgbClr val="334155"/>
                </a:solidFill>
                <a:latin typeface="Calibri"/>
                <a:ea typeface="Calibri"/>
                <a:cs typeface="Calibri"/>
              </a:rPr>
              <a:t>a stack</a:t>
            </a:r>
            <a:endParaRPr lang="en-US" sz="1200">
              <a:solidFill>
                <a:srgbClr val="334155"/>
              </a:solidFill>
              <a:latin typeface="Calibri"/>
              <a:ea typeface="Calibri"/>
              <a:cs typeface="Calibri"/>
            </a:endParaRPr>
          </a:p>
          <a:p>
            <a:pPr marL="217793" lvl="0" indent="-217793" algn="l">
              <a:buFont typeface="Arial"/>
              <a:buChar char="•"/>
              <a:defRPr/>
            </a:pPr>
            <a:r>
              <a:rPr lang="fr-FR" sz="1200">
                <a:solidFill>
                  <a:srgbClr val="334155"/>
                </a:solidFill>
                <a:latin typeface="Calibri"/>
                <a:ea typeface="Calibri"/>
                <a:cs typeface="Calibri"/>
              </a:rPr>
              <a:t>La structure du projet</a:t>
            </a:r>
            <a:endParaRPr lang="fr-FR" sz="1200">
              <a:solidFill>
                <a:srgbClr val="334155"/>
              </a:solidFill>
              <a:latin typeface="Calibri"/>
              <a:ea typeface="Calibri"/>
              <a:cs typeface="Calibri"/>
            </a:endParaRPr>
          </a:p>
          <a:p>
            <a:pPr marL="217793" lvl="0" indent="-217793" algn="l">
              <a:buFont typeface="Arial"/>
              <a:buChar char="•"/>
              <a:defRPr/>
            </a:pPr>
            <a:r>
              <a:rPr lang="fr-FR" sz="1200">
                <a:solidFill>
                  <a:srgbClr val="334155"/>
                </a:solidFill>
                <a:latin typeface="Calibri"/>
                <a:ea typeface="Calibri"/>
                <a:cs typeface="Calibri"/>
              </a:rPr>
              <a:t>Choix de la DB</a:t>
            </a:r>
            <a:endParaRPr lang="fr-FR" sz="1200">
              <a:solidFill>
                <a:srgbClr val="334155"/>
              </a:solidFill>
              <a:latin typeface="Calibri"/>
              <a:ea typeface="Calibri"/>
              <a:cs typeface="Calibri"/>
            </a:endParaRPr>
          </a:p>
          <a:p>
            <a:pPr marL="217793" lvl="0" indent="-217793" algn="l">
              <a:buFont typeface="Arial"/>
              <a:buChar char="•"/>
              <a:defRPr/>
            </a:pPr>
            <a:endParaRPr lang="fr-FR" sz="1200">
              <a:solidFill>
                <a:srgbClr val="334155"/>
              </a:solidFill>
              <a:latin typeface="Calibri"/>
              <a:ea typeface="Calibri"/>
              <a:cs typeface="Calibri"/>
            </a:endParaRPr>
          </a:p>
          <a:p>
            <a:pPr lvl="0" algn="l">
              <a:defRPr/>
            </a:pPr>
            <a:r>
              <a:rPr lang="fr-FR" sz="1200" b="0" i="0" u="none" strike="noStrike" cap="none" spc="0">
                <a:solidFill>
                  <a:srgbClr val="334155"/>
                </a:solidFill>
                <a:latin typeface="Calibri"/>
                <a:ea typeface="Calibri"/>
                <a:cs typeface="Calibri"/>
              </a:rPr>
              <a:t>🛠️ Stack recommandée par Claude :</a:t>
            </a:r>
            <a:endParaRPr lang="fr-FR" sz="1200" b="0" i="0" u="none" strike="noStrike" cap="none" spc="0">
              <a:solidFill>
                <a:srgbClr val="334155"/>
              </a:solidFill>
              <a:latin typeface="Calibri"/>
              <a:ea typeface="Calibri"/>
              <a:cs typeface="Calibri"/>
            </a:endParaRPr>
          </a:p>
          <a:p>
            <a:pPr marL="217793" indent="-217793" algn="l">
              <a:buFont typeface="Arial"/>
              <a:buChar char="•"/>
              <a:defRPr/>
            </a:pPr>
            <a:r>
              <a:rPr sz="1200" b="1" i="0" u="none">
                <a:solidFill>
                  <a:srgbClr val="000000"/>
                </a:solidFill>
                <a:latin typeface="Times New Roman"/>
                <a:ea typeface="Times New Roman"/>
                <a:cs typeface="Times New Roman"/>
              </a:rPr>
              <a:t>React</a:t>
            </a:r>
            <a:r>
              <a:rPr sz="1200" b="0" i="0" u="none">
                <a:solidFill>
                  <a:srgbClr val="000000"/>
                </a:solidFill>
                <a:latin typeface="Times New Roman"/>
                <a:ea typeface="Times New Roman"/>
                <a:cs typeface="Times New Roman"/>
              </a:rPr>
              <a:t> + </a:t>
            </a:r>
            <a:r>
              <a:rPr sz="1200" b="1" i="0" u="none">
                <a:solidFill>
                  <a:srgbClr val="000000"/>
                </a:solidFill>
                <a:latin typeface="Times New Roman"/>
                <a:ea typeface="Times New Roman"/>
                <a:cs typeface="Times New Roman"/>
              </a:rPr>
              <a:t>Vite</a:t>
            </a:r>
            <a:endParaRPr/>
          </a:p>
          <a:p>
            <a:pPr marL="217793" indent="-217793" algn="l">
              <a:buFont typeface="Arial"/>
              <a:buChar char="•"/>
              <a:defRPr/>
            </a:pPr>
            <a:r>
              <a:rPr sz="1200" b="1" i="0" u="none">
                <a:solidFill>
                  <a:srgbClr val="000000"/>
                </a:solidFill>
                <a:latin typeface="Times New Roman"/>
                <a:ea typeface="Times New Roman"/>
                <a:cs typeface="Times New Roman"/>
              </a:rPr>
              <a:t>Tailwind CSS</a:t>
            </a:r>
            <a:r>
              <a:rPr sz="1200" b="0" i="0" u="none">
                <a:solidFill>
                  <a:srgbClr val="000000"/>
                </a:solidFill>
                <a:latin typeface="Times New Roman"/>
                <a:ea typeface="Times New Roman"/>
                <a:cs typeface="Times New Roman"/>
              </a:rPr>
              <a:t> + </a:t>
            </a:r>
            <a:r>
              <a:rPr sz="1200" b="1" i="0" u="none">
                <a:solidFill>
                  <a:srgbClr val="000000"/>
                </a:solidFill>
                <a:latin typeface="Times New Roman"/>
                <a:ea typeface="Times New Roman"/>
                <a:cs typeface="Times New Roman"/>
              </a:rPr>
              <a:t>shadcn/ui</a:t>
            </a:r>
            <a:r>
              <a:rPr sz="1200" b="0" i="0" u="none">
                <a:solidFill>
                  <a:srgbClr val="000000"/>
                </a:solidFill>
                <a:latin typeface="Times New Roman"/>
                <a:ea typeface="Times New Roman"/>
                <a:cs typeface="Times New Roman"/>
              </a:rPr>
              <a:t> </a:t>
            </a:r>
            <a:endParaRPr/>
          </a:p>
          <a:p>
            <a:pPr marL="217793" indent="-217793" algn="l">
              <a:buFont typeface="Arial"/>
              <a:buChar char="•"/>
              <a:defRPr/>
            </a:pPr>
            <a:r>
              <a:rPr sz="1200" b="1" i="0" u="none">
                <a:solidFill>
                  <a:srgbClr val="000000"/>
                </a:solidFill>
                <a:latin typeface="Times New Roman"/>
                <a:ea typeface="Times New Roman"/>
                <a:cs typeface="Times New Roman"/>
              </a:rPr>
              <a:t>React Router v6</a:t>
            </a:r>
            <a:r>
              <a:rPr sz="1200" b="0" i="0" u="none">
                <a:solidFill>
                  <a:srgbClr val="000000"/>
                </a:solidFill>
                <a:latin typeface="Times New Roman"/>
                <a:ea typeface="Times New Roman"/>
                <a:cs typeface="Times New Roman"/>
              </a:rPr>
              <a:t> pour la navigation</a:t>
            </a:r>
            <a:endParaRPr/>
          </a:p>
          <a:p>
            <a:pPr marL="217793" indent="-217793" algn="l">
              <a:buFont typeface="Arial"/>
              <a:buChar char="•"/>
              <a:defRPr/>
            </a:pPr>
            <a:r>
              <a:rPr sz="1200" b="1" i="0" u="none">
                <a:solidFill>
                  <a:srgbClr val="000000"/>
                </a:solidFill>
                <a:latin typeface="Times New Roman"/>
                <a:ea typeface="Times New Roman"/>
                <a:cs typeface="Times New Roman"/>
              </a:rPr>
              <a:t>Recharts</a:t>
            </a:r>
            <a:r>
              <a:rPr sz="1200" b="0" i="0" u="none">
                <a:solidFill>
                  <a:srgbClr val="000000"/>
                </a:solidFill>
                <a:latin typeface="Times New Roman"/>
                <a:ea typeface="Times New Roman"/>
                <a:cs typeface="Times New Roman"/>
              </a:rPr>
              <a:t> pour les graphiques </a:t>
            </a:r>
            <a:endParaRPr/>
          </a:p>
          <a:p>
            <a:pPr marL="217793" indent="-217793" algn="l">
              <a:buFont typeface="Arial"/>
              <a:buChar char="•"/>
              <a:defRPr/>
            </a:pPr>
            <a:r>
              <a:rPr sz="1200" b="1" i="0" u="none">
                <a:solidFill>
                  <a:srgbClr val="000000"/>
                </a:solidFill>
                <a:latin typeface="Times New Roman"/>
                <a:ea typeface="Times New Roman"/>
                <a:cs typeface="Times New Roman"/>
              </a:rPr>
              <a:t>Axios</a:t>
            </a:r>
            <a:r>
              <a:rPr sz="1200" b="0" i="0" u="none">
                <a:solidFill>
                  <a:srgbClr val="000000"/>
                </a:solidFill>
                <a:latin typeface="Times New Roman"/>
                <a:ea typeface="Times New Roman"/>
                <a:cs typeface="Times New Roman"/>
              </a:rPr>
              <a:t> pour les appels API</a:t>
            </a:r>
            <a:endParaRPr lang="en-US" sz="1200"/>
          </a:p>
        </p:txBody>
      </p:sp>
      <p:sp>
        <p:nvSpPr>
          <p:cNvPr id="833077899" name="Shape 7"/>
          <p:cNvSpPr/>
          <p:nvPr/>
        </p:nvSpPr>
        <p:spPr bwMode="auto">
          <a:xfrm flipH="0" flipV="0">
            <a:off x="3200400" y="1280159"/>
            <a:ext cx="2651760" cy="3766418"/>
          </a:xfrm>
          <a:prstGeom prst="rect">
            <a:avLst/>
          </a:prstGeom>
          <a:solidFill>
            <a:srgbClr val="FFFFFF"/>
          </a:solidFill>
          <a:ln w="12700">
            <a:solidFill>
              <a:srgbClr val="D0DCF0"/>
            </a:solidFill>
            <a:prstDash val="solid"/>
          </a:ln>
          <a:effectLst>
            <a:outerShdw blurRad="101600" dist="38100" dir="8100000" sx="100000" sy="100000" kx="0" ky="0" algn="bl" rotWithShape="0">
              <a:srgbClr val="000000">
                <a:alpha val="18000"/>
              </a:srgbClr>
            </a:outerShdw>
          </a:effectLst>
        </p:spPr>
        <p:txBody>
          <a:bodyPr anchor="ctr"/>
          <a:p>
            <a:pPr algn="ctr">
              <a:defRPr/>
            </a:pPr>
            <a:endParaRPr lang="fr-FR"/>
          </a:p>
        </p:txBody>
      </p:sp>
      <p:sp>
        <p:nvSpPr>
          <p:cNvPr id="634619492" name="Shape 8"/>
          <p:cNvSpPr/>
          <p:nvPr/>
        </p:nvSpPr>
        <p:spPr bwMode="auto">
          <a:xfrm>
            <a:off x="3200400" y="1280160"/>
            <a:ext cx="2651760" cy="73152"/>
          </a:xfrm>
          <a:prstGeom prst="rect">
            <a:avLst/>
          </a:prstGeom>
          <a:solidFill>
            <a:srgbClr val="00B4D8"/>
          </a:solidFill>
          <a:ln w="12700">
            <a:solidFill>
              <a:srgbClr val="00B4D8"/>
            </a:solidFill>
            <a:prstDash val="solid"/>
          </a:ln>
        </p:spPr>
      </p:sp>
      <p:sp>
        <p:nvSpPr>
          <p:cNvPr id="168443081" name="Text 9"/>
          <p:cNvSpPr/>
          <p:nvPr/>
        </p:nvSpPr>
        <p:spPr bwMode="auto">
          <a:xfrm flipH="0" flipV="0">
            <a:off x="3138382" y="1371599"/>
            <a:ext cx="2867231" cy="1034715"/>
          </a:xfrm>
          <a:prstGeom prst="rect">
            <a:avLst/>
          </a:prstGeom>
          <a:noFill/>
          <a:ln/>
        </p:spPr>
        <p:txBody>
          <a:bodyPr wrap="square" rtlCol="0" anchor="ctr"/>
          <a:lstStyle/>
          <a:p>
            <a:pPr marL="0" indent="0" algn="ctr">
              <a:buNone/>
              <a:defRPr/>
            </a:pPr>
            <a:r>
              <a:rPr lang="en-US" sz="3000">
                <a:solidFill>
                  <a:srgbClr val="000000"/>
                </a:solidFill>
              </a:rPr>
              <a:t>📋</a:t>
            </a:r>
            <a:endParaRPr lang="en-US" sz="3000"/>
          </a:p>
        </p:txBody>
      </p:sp>
      <p:sp>
        <p:nvSpPr>
          <p:cNvPr id="891128044" name="Text 10"/>
          <p:cNvSpPr/>
          <p:nvPr/>
        </p:nvSpPr>
        <p:spPr bwMode="auto">
          <a:xfrm>
            <a:off x="3200400" y="2131995"/>
            <a:ext cx="2651760" cy="548640"/>
          </a:xfrm>
          <a:prstGeom prst="rect">
            <a:avLst/>
          </a:prstGeom>
          <a:noFill/>
          <a:ln/>
        </p:spPr>
        <p:txBody>
          <a:bodyPr wrap="square" rtlCol="0" anchor="ctr"/>
          <a:lstStyle/>
          <a:p>
            <a:pPr marL="0" indent="0" algn="ctr">
              <a:buNone/>
              <a:defRPr/>
            </a:pPr>
            <a:r>
              <a:rPr lang="en-US" sz="1500" b="1">
                <a:solidFill>
                  <a:srgbClr val="0D1B2A"/>
                </a:solidFill>
                <a:latin typeface="Calibri"/>
                <a:ea typeface="Calibri"/>
                <a:cs typeface="Calibri"/>
              </a:rPr>
              <a:t>Planification</a:t>
            </a:r>
            <a:endParaRPr lang="en-US" sz="1500"/>
          </a:p>
        </p:txBody>
      </p:sp>
      <p:sp>
        <p:nvSpPr>
          <p:cNvPr id="1952647685" name="Text 11"/>
          <p:cNvSpPr/>
          <p:nvPr/>
        </p:nvSpPr>
        <p:spPr bwMode="auto">
          <a:xfrm>
            <a:off x="3383280" y="2619032"/>
            <a:ext cx="2377440" cy="1463040"/>
          </a:xfrm>
          <a:prstGeom prst="rect">
            <a:avLst/>
          </a:prstGeom>
          <a:noFill/>
          <a:ln/>
        </p:spPr>
        <p:txBody>
          <a:bodyPr wrap="square" rtlCol="0" anchor="t"/>
          <a:lstStyle/>
          <a:p>
            <a:pPr marL="217793" lvl="0" indent="-217793" algn="l">
              <a:buFont typeface="Arial"/>
              <a:buChar char="•"/>
              <a:defRPr/>
            </a:pPr>
            <a:r>
              <a:rPr lang="en-US" sz="1200">
                <a:solidFill>
                  <a:srgbClr val="334155"/>
                </a:solidFill>
                <a:latin typeface="Calibri"/>
                <a:ea typeface="Calibri"/>
                <a:cs typeface="Calibri"/>
              </a:rPr>
              <a:t>Découper les tâches</a:t>
            </a:r>
            <a:endParaRPr lang="en-US" sz="1200"/>
          </a:p>
          <a:p>
            <a:pPr marL="217793" lvl="0" indent="-217793" algn="l">
              <a:buFont typeface="Arial"/>
              <a:buChar char="•"/>
              <a:defRPr/>
            </a:pPr>
            <a:r>
              <a:rPr lang="fr-FR" sz="1200">
                <a:solidFill>
                  <a:srgbClr val="334155"/>
                </a:solidFill>
                <a:latin typeface="Calibri"/>
                <a:ea typeface="Calibri"/>
                <a:cs typeface="Calibri"/>
              </a:rPr>
              <a:t>P</a:t>
            </a:r>
            <a:r>
              <a:rPr lang="en-US" sz="1200">
                <a:solidFill>
                  <a:srgbClr val="334155"/>
                </a:solidFill>
                <a:latin typeface="Calibri"/>
                <a:ea typeface="Calibri"/>
                <a:cs typeface="Calibri"/>
              </a:rPr>
              <a:t>rioriser les features</a:t>
            </a:r>
            <a:endParaRPr lang="en-US" sz="1200">
              <a:solidFill>
                <a:srgbClr val="334155"/>
              </a:solidFill>
              <a:latin typeface="Calibri"/>
              <a:ea typeface="Calibri"/>
              <a:cs typeface="Calibri"/>
            </a:endParaRPr>
          </a:p>
          <a:p>
            <a:pPr marL="217793" lvl="0" indent="-217793" algn="l">
              <a:buFont typeface="Arial"/>
              <a:buChar char="•"/>
              <a:defRPr/>
            </a:pPr>
            <a:r>
              <a:rPr lang="fr-FR" sz="1200">
                <a:solidFill>
                  <a:srgbClr val="334155"/>
                </a:solidFill>
                <a:latin typeface="Calibri"/>
                <a:ea typeface="Calibri"/>
                <a:cs typeface="Calibri"/>
              </a:rPr>
              <a:t>Mise en place d’un backlog Github pour suivre l’avancée des tâches</a:t>
            </a:r>
            <a:endParaRPr lang="en-US" sz="1200"/>
          </a:p>
        </p:txBody>
      </p:sp>
      <p:sp>
        <p:nvSpPr>
          <p:cNvPr id="1113777579" name="Shape 12"/>
          <p:cNvSpPr/>
          <p:nvPr/>
        </p:nvSpPr>
        <p:spPr bwMode="auto">
          <a:xfrm flipH="0" flipV="0">
            <a:off x="6126480" y="1280160"/>
            <a:ext cx="2651760" cy="3766418"/>
          </a:xfrm>
          <a:prstGeom prst="rect">
            <a:avLst/>
          </a:prstGeom>
          <a:solidFill>
            <a:srgbClr val="FFFFFF"/>
          </a:solidFill>
          <a:ln w="12700">
            <a:solidFill>
              <a:srgbClr val="D0DCF0"/>
            </a:solidFill>
            <a:prstDash val="solid"/>
          </a:ln>
          <a:effectLst>
            <a:outerShdw blurRad="101600" dist="38100" dir="8100000" sx="100000" sy="100000" kx="0" ky="0" algn="bl" rotWithShape="0">
              <a:srgbClr val="000000">
                <a:alpha val="18000"/>
              </a:srgbClr>
            </a:outerShdw>
          </a:effectLst>
        </p:spPr>
      </p:sp>
      <p:sp>
        <p:nvSpPr>
          <p:cNvPr id="1587822277" name="Shape 13"/>
          <p:cNvSpPr/>
          <p:nvPr/>
        </p:nvSpPr>
        <p:spPr bwMode="auto">
          <a:xfrm>
            <a:off x="6126480" y="1280160"/>
            <a:ext cx="2651760" cy="73152"/>
          </a:xfrm>
          <a:prstGeom prst="rect">
            <a:avLst/>
          </a:prstGeom>
          <a:solidFill>
            <a:srgbClr val="00B4D8"/>
          </a:solidFill>
          <a:ln w="12700">
            <a:solidFill>
              <a:srgbClr val="00B4D8"/>
            </a:solidFill>
            <a:prstDash val="solid"/>
          </a:ln>
        </p:spPr>
      </p:sp>
      <p:sp>
        <p:nvSpPr>
          <p:cNvPr id="1019052395" name="Text 14"/>
          <p:cNvSpPr/>
          <p:nvPr/>
        </p:nvSpPr>
        <p:spPr bwMode="auto">
          <a:xfrm>
            <a:off x="6126480" y="1371600"/>
            <a:ext cx="2651760" cy="822960"/>
          </a:xfrm>
          <a:prstGeom prst="rect">
            <a:avLst/>
          </a:prstGeom>
          <a:noFill/>
          <a:ln/>
        </p:spPr>
        <p:txBody>
          <a:bodyPr wrap="square" rtlCol="0" anchor="ctr"/>
          <a:lstStyle/>
          <a:p>
            <a:pPr marL="0" indent="0" algn="ctr">
              <a:buNone/>
              <a:defRPr/>
            </a:pPr>
            <a:endParaRPr lang="en-US" sz="3000"/>
          </a:p>
        </p:txBody>
      </p:sp>
      <p:sp>
        <p:nvSpPr>
          <p:cNvPr id="786848099" name="Text 15"/>
          <p:cNvSpPr/>
          <p:nvPr/>
        </p:nvSpPr>
        <p:spPr bwMode="auto">
          <a:xfrm>
            <a:off x="6126480" y="2131995"/>
            <a:ext cx="2651760" cy="548640"/>
          </a:xfrm>
          <a:prstGeom prst="rect">
            <a:avLst/>
          </a:prstGeom>
          <a:noFill/>
          <a:ln/>
        </p:spPr>
        <p:txBody>
          <a:bodyPr wrap="square" rtlCol="0" anchor="ctr"/>
          <a:lstStyle/>
          <a:p>
            <a:pPr marL="0" indent="0" algn="ctr">
              <a:buNone/>
              <a:defRPr/>
            </a:pPr>
            <a:r>
              <a:rPr lang="en-US" sz="1500" b="1">
                <a:solidFill>
                  <a:srgbClr val="0D1B2A"/>
                </a:solidFill>
                <a:latin typeface="Calibri"/>
                <a:ea typeface="Calibri"/>
                <a:cs typeface="Calibri"/>
              </a:rPr>
              <a:t>Debug &amp; Code</a:t>
            </a:r>
            <a:endParaRPr lang="en-US" sz="1500"/>
          </a:p>
        </p:txBody>
      </p:sp>
      <p:sp>
        <p:nvSpPr>
          <p:cNvPr id="787454337" name="Text 16"/>
          <p:cNvSpPr/>
          <p:nvPr/>
        </p:nvSpPr>
        <p:spPr bwMode="auto">
          <a:xfrm>
            <a:off x="6263640" y="2619032"/>
            <a:ext cx="2377440" cy="1463040"/>
          </a:xfrm>
          <a:prstGeom prst="rect">
            <a:avLst/>
          </a:prstGeom>
          <a:noFill/>
          <a:ln/>
        </p:spPr>
        <p:txBody>
          <a:bodyPr wrap="square" rtlCol="0" anchor="t"/>
          <a:lstStyle/>
          <a:p>
            <a:pPr marL="217793" lvl="0" indent="-217793" algn="l">
              <a:buFont typeface="Arial"/>
              <a:buChar char="•"/>
              <a:defRPr/>
            </a:pPr>
            <a:r>
              <a:rPr lang="en-US" sz="1200">
                <a:solidFill>
                  <a:srgbClr val="334155"/>
                </a:solidFill>
                <a:latin typeface="Calibri"/>
                <a:ea typeface="Calibri"/>
                <a:cs typeface="Calibri"/>
              </a:rPr>
              <a:t>Résoudre des bugs</a:t>
            </a:r>
            <a:endParaRPr lang="en-US" sz="1200">
              <a:solidFill>
                <a:srgbClr val="334155"/>
              </a:solidFill>
              <a:latin typeface="Calibri"/>
              <a:ea typeface="Calibri"/>
              <a:cs typeface="Calibri"/>
            </a:endParaRPr>
          </a:p>
          <a:p>
            <a:pPr marL="217793" lvl="0" indent="-217793" algn="l">
              <a:buFont typeface="Arial"/>
              <a:buChar char="•"/>
              <a:defRPr/>
            </a:pPr>
            <a:r>
              <a:rPr lang="fr-FR" sz="1200">
                <a:solidFill>
                  <a:srgbClr val="334155"/>
                </a:solidFill>
                <a:latin typeface="Calibri"/>
                <a:ea typeface="Calibri"/>
                <a:cs typeface="Calibri"/>
              </a:rPr>
              <a:t>G</a:t>
            </a:r>
            <a:r>
              <a:rPr lang="en-US" sz="1200">
                <a:solidFill>
                  <a:srgbClr val="334155"/>
                </a:solidFill>
                <a:latin typeface="Calibri"/>
                <a:ea typeface="Calibri"/>
                <a:cs typeface="Calibri"/>
              </a:rPr>
              <a:t>énérer des composants</a:t>
            </a:r>
            <a:r>
              <a:rPr lang="fr-FR" sz="1200">
                <a:solidFill>
                  <a:srgbClr val="334155"/>
                </a:solidFill>
                <a:latin typeface="Calibri"/>
                <a:ea typeface="Calibri"/>
                <a:cs typeface="Calibri"/>
              </a:rPr>
              <a:t> </a:t>
            </a:r>
            <a:r>
              <a:rPr lang="en-US" sz="1200">
                <a:solidFill>
                  <a:srgbClr val="334155"/>
                </a:solidFill>
                <a:latin typeface="Calibri"/>
                <a:ea typeface="Calibri"/>
                <a:cs typeface="Calibri"/>
              </a:rPr>
              <a:t>UI</a:t>
            </a:r>
            <a:endParaRPr lang="en-US" sz="1200">
              <a:solidFill>
                <a:srgbClr val="334155"/>
              </a:solidFill>
              <a:latin typeface="Calibri"/>
              <a:ea typeface="Calibri"/>
              <a:cs typeface="Calibri"/>
            </a:endParaRPr>
          </a:p>
        </p:txBody>
      </p:sp>
      <p:pic>
        <p:nvPicPr>
          <p:cNvPr id="1587827821" name=""/>
          <p:cNvPicPr>
            <a:picLocks noChangeAspect="1"/>
          </p:cNvPicPr>
          <p:nvPr/>
        </p:nvPicPr>
        <p:blipFill rotWithShape="1">
          <a:blip r:embed="rId3"/>
          <a:stretch/>
        </p:blipFill>
        <p:spPr bwMode="auto">
          <a:xfrm flipH="0" flipV="0">
            <a:off x="1195196" y="1388905"/>
            <a:ext cx="810006" cy="788348"/>
          </a:xfrm>
          <a:prstGeom prst="rect">
            <a:avLst/>
          </a:prstGeom>
        </p:spPr>
      </p:pic>
      <p:pic>
        <p:nvPicPr>
          <p:cNvPr id="1819671913" name=""/>
          <p:cNvPicPr>
            <a:picLocks noChangeAspect="1"/>
          </p:cNvPicPr>
          <p:nvPr/>
        </p:nvPicPr>
        <p:blipFill rotWithShape="1">
          <a:blip r:embed="rId4"/>
          <a:stretch/>
        </p:blipFill>
        <p:spPr bwMode="auto">
          <a:xfrm flipH="0" flipV="0">
            <a:off x="7135397" y="1466117"/>
            <a:ext cx="633924" cy="633924"/>
          </a:xfrm>
          <a:prstGeom prst="rect">
            <a:avLst/>
          </a:prstGeom>
        </p:spPr>
      </p:pic>
      <p:pic>
        <p:nvPicPr>
          <p:cNvPr id="1936442134" name=""/>
          <p:cNvPicPr>
            <a:picLocks noChangeAspect="1"/>
          </p:cNvPicPr>
          <p:nvPr/>
        </p:nvPicPr>
        <p:blipFill rotWithShape="1">
          <a:blip r:embed="rId5"/>
          <a:stretch/>
        </p:blipFill>
        <p:spPr bwMode="auto">
          <a:xfrm flipH="0" flipV="0">
            <a:off x="3498284" y="3563569"/>
            <a:ext cx="2055991" cy="1399456"/>
          </a:xfrm>
          <a:prstGeom prst="rect">
            <a:avLst/>
          </a:prstGeom>
        </p:spPr>
      </p:pic>
      <p:pic>
        <p:nvPicPr>
          <p:cNvPr id="1289344286" name=""/>
          <p:cNvPicPr>
            <a:picLocks noChangeAspect="1"/>
          </p:cNvPicPr>
          <p:nvPr/>
        </p:nvPicPr>
        <p:blipFill rotWithShape="1">
          <a:blip r:embed="rId6"/>
          <a:stretch/>
        </p:blipFill>
        <p:spPr bwMode="auto">
          <a:xfrm flipH="0" flipV="0">
            <a:off x="6243615" y="3393713"/>
            <a:ext cx="2417488" cy="137671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0D1B2A"/>
        </a:solidFill>
      </p:bgPr>
    </p:bg>
    <p:spTree>
      <p:nvGrpSpPr>
        <p:cNvPr id="1" name=""/>
        <p:cNvGrpSpPr/>
        <p:nvPr/>
      </p:nvGrpSpPr>
      <p:grpSpPr bwMode="auto">
        <a:xfrm>
          <a:off x="0" y="0"/>
          <a:ext cx="0" cy="0"/>
          <a:chOff x="0" y="0"/>
          <a:chExt cx="0" cy="0"/>
        </a:xfrm>
      </p:grpSpPr>
      <p:sp>
        <p:nvSpPr>
          <p:cNvPr id="989759653" name="Shape 0"/>
          <p:cNvSpPr/>
          <p:nvPr/>
        </p:nvSpPr>
        <p:spPr bwMode="auto">
          <a:xfrm>
            <a:off x="0" y="0"/>
            <a:ext cx="9144000" cy="1005840"/>
          </a:xfrm>
          <a:prstGeom prst="rect">
            <a:avLst/>
          </a:prstGeom>
          <a:solidFill>
            <a:srgbClr val="1565C0"/>
          </a:solidFill>
          <a:ln w="12700">
            <a:solidFill>
              <a:srgbClr val="1565C0"/>
            </a:solidFill>
            <a:prstDash val="solid"/>
          </a:ln>
        </p:spPr>
      </p:sp>
      <p:sp>
        <p:nvSpPr>
          <p:cNvPr id="113445302" name="Text 1"/>
          <p:cNvSpPr/>
          <p:nvPr/>
        </p:nvSpPr>
        <p:spPr bwMode="auto">
          <a:xfrm>
            <a:off x="365760" y="0"/>
            <a:ext cx="8412480" cy="1005840"/>
          </a:xfrm>
          <a:prstGeom prst="rect">
            <a:avLst/>
          </a:prstGeom>
          <a:noFill/>
          <a:ln/>
        </p:spPr>
        <p:txBody>
          <a:bodyPr wrap="square" rtlCol="0" anchor="ctr"/>
          <a:lstStyle/>
          <a:p>
            <a:pPr marL="0" indent="0">
              <a:buNone/>
              <a:defRPr/>
            </a:pPr>
            <a:r>
              <a:rPr lang="en-US" sz="2200" b="1">
                <a:solidFill>
                  <a:srgbClr val="FFFFFF"/>
                </a:solidFill>
                <a:latin typeface="Calibri"/>
                <a:ea typeface="Calibri"/>
                <a:cs typeface="Calibri"/>
              </a:rPr>
              <a:t>Architecture &amp; Planification</a:t>
            </a:r>
            <a:endParaRPr lang="en-US" sz="2200"/>
          </a:p>
        </p:txBody>
      </p:sp>
      <p:sp>
        <p:nvSpPr>
          <p:cNvPr id="445554905" name="Shape 2"/>
          <p:cNvSpPr/>
          <p:nvPr/>
        </p:nvSpPr>
        <p:spPr bwMode="auto">
          <a:xfrm>
            <a:off x="274320" y="1188720"/>
            <a:ext cx="3931920" cy="3474720"/>
          </a:xfrm>
          <a:prstGeom prst="rect">
            <a:avLst/>
          </a:prstGeom>
          <a:solidFill>
            <a:srgbClr val="132338"/>
          </a:solidFill>
          <a:ln w="12700">
            <a:solidFill>
              <a:srgbClr val="00B4D8"/>
            </a:solidFill>
            <a:prstDash val="solid"/>
          </a:ln>
          <a:effectLst>
            <a:outerShdw blurRad="101600" dist="38100" dir="8100000" sx="100000" sy="100000" kx="0" ky="0" algn="bl" rotWithShape="0">
              <a:srgbClr val="000000">
                <a:alpha val="18000"/>
              </a:srgbClr>
            </a:outerShdw>
          </a:effectLst>
        </p:spPr>
      </p:sp>
      <p:sp>
        <p:nvSpPr>
          <p:cNvPr id="241014709" name="Text 3"/>
          <p:cNvSpPr/>
          <p:nvPr/>
        </p:nvSpPr>
        <p:spPr bwMode="auto">
          <a:xfrm>
            <a:off x="457200" y="1371600"/>
            <a:ext cx="3566160" cy="457200"/>
          </a:xfrm>
          <a:prstGeom prst="rect">
            <a:avLst/>
          </a:prstGeom>
          <a:noFill/>
          <a:ln/>
        </p:spPr>
        <p:txBody>
          <a:bodyPr wrap="square" rtlCol="0" anchor="ctr"/>
          <a:lstStyle/>
          <a:p>
            <a:pPr marL="0" indent="0">
              <a:buNone/>
              <a:defRPr/>
            </a:pPr>
            <a:r>
              <a:rPr lang="en-US" sz="1300" b="1" u="none">
                <a:solidFill>
                  <a:srgbClr val="00B4D8"/>
                </a:solidFill>
                <a:latin typeface="Calibri"/>
                <a:ea typeface="Calibri"/>
                <a:cs typeface="Calibri"/>
              </a:rPr>
              <a:t>Ce que j'ai demandé à l'IA</a:t>
            </a:r>
            <a:endParaRPr lang="en-US" sz="1300"/>
          </a:p>
        </p:txBody>
      </p:sp>
      <p:sp>
        <p:nvSpPr>
          <p:cNvPr id="2102975643" name="Text 4"/>
          <p:cNvSpPr/>
          <p:nvPr/>
        </p:nvSpPr>
        <p:spPr bwMode="auto">
          <a:xfrm>
            <a:off x="457200" y="1828800"/>
            <a:ext cx="3566160" cy="2743200"/>
          </a:xfrm>
          <a:prstGeom prst="rect">
            <a:avLst/>
          </a:prstGeom>
          <a:noFill/>
          <a:ln/>
        </p:spPr>
        <p:txBody>
          <a:bodyPr wrap="square" rtlCol="0" anchor="t"/>
          <a:lstStyle/>
          <a:p>
            <a:pPr marL="0" indent="0">
              <a:lnSpc>
                <a:spcPct val="100000"/>
              </a:lnSpc>
              <a:spcBef>
                <a:spcPts val="1417"/>
              </a:spcBef>
              <a:buNone/>
              <a:defRPr/>
            </a:pPr>
            <a:r>
              <a:rPr lang="en-US" sz="1200">
                <a:solidFill>
                  <a:srgbClr val="EEF2F7"/>
                </a:solidFill>
                <a:latin typeface="Calibri"/>
                <a:ea typeface="Calibri"/>
                <a:cs typeface="Calibri"/>
              </a:rPr>
              <a:t>→ Quelle stack pour un bank manager ?</a:t>
            </a:r>
            <a:endParaRPr lang="en-US" sz="1200"/>
          </a:p>
          <a:p>
            <a:pPr marL="0" indent="0">
              <a:lnSpc>
                <a:spcPct val="100000"/>
              </a:lnSpc>
              <a:spcBef>
                <a:spcPts val="1417"/>
              </a:spcBef>
              <a:buNone/>
              <a:defRPr/>
            </a:pPr>
            <a:r>
              <a:rPr lang="en-US" sz="1200">
                <a:solidFill>
                  <a:srgbClr val="EEF2F7"/>
                </a:solidFill>
                <a:latin typeface="Calibri"/>
                <a:ea typeface="Calibri"/>
                <a:cs typeface="Calibri"/>
              </a:rPr>
              <a:t>→ Structure des dossiers backend/frontend</a:t>
            </a:r>
            <a:endParaRPr lang="en-US" sz="1200"/>
          </a:p>
          <a:p>
            <a:pPr marL="0" indent="0">
              <a:lnSpc>
                <a:spcPct val="100000"/>
              </a:lnSpc>
              <a:spcBef>
                <a:spcPts val="1417"/>
              </a:spcBef>
              <a:buNone/>
              <a:defRPr/>
            </a:pPr>
            <a:r>
              <a:rPr lang="en-US" sz="1200">
                <a:solidFill>
                  <a:srgbClr val="EEF2F7"/>
                </a:solidFill>
                <a:latin typeface="Calibri"/>
                <a:ea typeface="Calibri"/>
                <a:cs typeface="Calibri"/>
              </a:rPr>
              <a:t>→ Modélisation des </a:t>
            </a:r>
            <a:r>
              <a:rPr lang="fr-FR" sz="1200">
                <a:solidFill>
                  <a:srgbClr val="EEF2F7"/>
                </a:solidFill>
                <a:latin typeface="Calibri"/>
                <a:ea typeface="Calibri"/>
                <a:cs typeface="Calibri"/>
              </a:rPr>
              <a:t>entités </a:t>
            </a:r>
            <a:r>
              <a:rPr lang="en-US" sz="1200">
                <a:solidFill>
                  <a:srgbClr val="EEF2F7"/>
                </a:solidFill>
                <a:latin typeface="Calibri"/>
                <a:ea typeface="Calibri"/>
                <a:cs typeface="Calibri"/>
              </a:rPr>
              <a:t>(compte, transaction…</a:t>
            </a:r>
            <a:r>
              <a:rPr lang="fr-FR" sz="1200">
                <a:solidFill>
                  <a:srgbClr val="EEF2F7"/>
                </a:solidFill>
                <a:latin typeface="Calibri"/>
                <a:ea typeface="Calibri"/>
                <a:cs typeface="Calibri"/>
              </a:rPr>
              <a:t>) à partir d’un diagramme de classe</a:t>
            </a:r>
            <a:endParaRPr lang="en-US" sz="1200"/>
          </a:p>
          <a:p>
            <a:pPr marL="0" indent="0">
              <a:lnSpc>
                <a:spcPct val="100000"/>
              </a:lnSpc>
              <a:spcBef>
                <a:spcPts val="1417"/>
              </a:spcBef>
              <a:buNone/>
              <a:defRPr/>
            </a:pPr>
            <a:r>
              <a:rPr lang="en-US" sz="1200">
                <a:solidFill>
                  <a:srgbClr val="EEF2F7"/>
                </a:solidFill>
                <a:latin typeface="Calibri"/>
                <a:ea typeface="Calibri"/>
                <a:cs typeface="Calibri"/>
              </a:rPr>
              <a:t>→ Quelles routes API REST exposer</a:t>
            </a:r>
            <a:r>
              <a:rPr lang="en-US" sz="1200">
                <a:solidFill>
                  <a:srgbClr val="EEF2F7"/>
                </a:solidFill>
                <a:latin typeface="Calibri"/>
                <a:ea typeface="Calibri"/>
                <a:cs typeface="Calibri"/>
              </a:rPr>
              <a:t> ?</a:t>
            </a:r>
            <a:endParaRPr lang="en-US" sz="1200"/>
          </a:p>
          <a:p>
            <a:pPr marL="0" indent="0">
              <a:lnSpc>
                <a:spcPct val="100000"/>
              </a:lnSpc>
              <a:spcBef>
                <a:spcPts val="1417"/>
              </a:spcBef>
              <a:buNone/>
              <a:defRPr/>
            </a:pPr>
            <a:r>
              <a:rPr lang="en-US" sz="1200">
                <a:solidFill>
                  <a:srgbClr val="EEF2F7"/>
                </a:solidFill>
                <a:latin typeface="Calibri"/>
                <a:ea typeface="Calibri"/>
                <a:cs typeface="Calibri"/>
              </a:rPr>
              <a:t>→ Découpage </a:t>
            </a:r>
            <a:r>
              <a:rPr lang="fr-FR" sz="1200">
                <a:solidFill>
                  <a:srgbClr val="EEF2F7"/>
                </a:solidFill>
                <a:latin typeface="Calibri"/>
                <a:ea typeface="Calibri"/>
                <a:cs typeface="Calibri"/>
              </a:rPr>
              <a:t>du projet </a:t>
            </a:r>
            <a:r>
              <a:rPr lang="en-US" sz="1200">
                <a:solidFill>
                  <a:srgbClr val="EEF2F7"/>
                </a:solidFill>
                <a:latin typeface="Calibri"/>
                <a:ea typeface="Calibri"/>
                <a:cs typeface="Calibri"/>
              </a:rPr>
              <a:t>en tâches</a:t>
            </a:r>
            <a:endParaRPr lang="en-US" sz="1200"/>
          </a:p>
        </p:txBody>
      </p:sp>
      <p:sp>
        <p:nvSpPr>
          <p:cNvPr id="947856649" name="Shape 5"/>
          <p:cNvSpPr/>
          <p:nvPr/>
        </p:nvSpPr>
        <p:spPr bwMode="auto">
          <a:xfrm>
            <a:off x="4572000" y="1188720"/>
            <a:ext cx="4297680" cy="3474720"/>
          </a:xfrm>
          <a:prstGeom prst="rect">
            <a:avLst/>
          </a:prstGeom>
          <a:solidFill>
            <a:srgbClr val="132338"/>
          </a:solidFill>
          <a:ln w="12700">
            <a:solidFill>
              <a:srgbClr val="CADCFC"/>
            </a:solidFill>
            <a:prstDash val="solid"/>
          </a:ln>
          <a:effectLst>
            <a:outerShdw blurRad="101600" dist="38100" dir="8100000" sx="100000" sy="100000" kx="0" ky="0" algn="bl" rotWithShape="0">
              <a:srgbClr val="000000">
                <a:alpha val="18000"/>
              </a:srgbClr>
            </a:outerShdw>
          </a:effectLst>
        </p:spPr>
      </p:sp>
      <p:sp>
        <p:nvSpPr>
          <p:cNvPr id="1973123529" name="Text 6"/>
          <p:cNvSpPr/>
          <p:nvPr/>
        </p:nvSpPr>
        <p:spPr bwMode="auto">
          <a:xfrm>
            <a:off x="4754880" y="1371600"/>
            <a:ext cx="3931920" cy="457200"/>
          </a:xfrm>
          <a:prstGeom prst="rect">
            <a:avLst/>
          </a:prstGeom>
          <a:noFill/>
          <a:ln/>
        </p:spPr>
        <p:txBody>
          <a:bodyPr wrap="square" rtlCol="0" anchor="ctr"/>
          <a:lstStyle/>
          <a:p>
            <a:pPr marL="0" indent="0">
              <a:buNone/>
              <a:defRPr/>
            </a:pPr>
            <a:r>
              <a:rPr lang="en-US" sz="1300" b="1">
                <a:solidFill>
                  <a:srgbClr val="CADCFC"/>
                </a:solidFill>
                <a:latin typeface="Calibri"/>
                <a:ea typeface="Calibri"/>
                <a:cs typeface="Calibri"/>
              </a:rPr>
              <a:t>Ce que l'IA a produit</a:t>
            </a:r>
            <a:endParaRPr lang="en-US" sz="1300"/>
          </a:p>
        </p:txBody>
      </p:sp>
      <p:sp>
        <p:nvSpPr>
          <p:cNvPr id="143171679" name="Text 7"/>
          <p:cNvSpPr/>
          <p:nvPr/>
        </p:nvSpPr>
        <p:spPr bwMode="auto">
          <a:xfrm>
            <a:off x="4754880" y="1828800"/>
            <a:ext cx="3931920" cy="2743200"/>
          </a:xfrm>
          <a:prstGeom prst="rect">
            <a:avLst/>
          </a:prstGeom>
          <a:noFill/>
          <a:ln/>
        </p:spPr>
        <p:txBody>
          <a:bodyPr wrap="square" rtlCol="0" anchor="t"/>
          <a:lstStyle/>
          <a:p>
            <a:pPr marL="0" indent="0">
              <a:lnSpc>
                <a:spcPct val="200000"/>
              </a:lnSpc>
              <a:buNone/>
              <a:defRPr/>
            </a:pPr>
            <a:r>
              <a:rPr lang="en-US" sz="1200">
                <a:solidFill>
                  <a:srgbClr val="EEF2F7"/>
                </a:solidFill>
                <a:latin typeface="Calibri"/>
                <a:ea typeface="Calibri"/>
                <a:cs typeface="Calibri"/>
              </a:rPr>
              <a:t>✓ Stack : </a:t>
            </a:r>
            <a:r>
              <a:rPr lang="fr-FR" sz="1200">
                <a:solidFill>
                  <a:srgbClr val="EEF2F7"/>
                </a:solidFill>
                <a:latin typeface="Calibri"/>
                <a:ea typeface="Calibri"/>
                <a:cs typeface="Calibri"/>
              </a:rPr>
              <a:t>React + </a:t>
            </a:r>
            <a:r>
              <a:rPr lang="en-US" sz="1200">
                <a:solidFill>
                  <a:srgbClr val="EEF2F7"/>
                </a:solidFill>
                <a:latin typeface="Calibri"/>
                <a:ea typeface="Calibri"/>
                <a:cs typeface="Calibri"/>
              </a:rPr>
              <a:t>Node.js + Express + MongoDB</a:t>
            </a:r>
            <a:endParaRPr lang="en-US" sz="1200"/>
          </a:p>
          <a:p>
            <a:pPr marL="0" indent="0">
              <a:lnSpc>
                <a:spcPct val="200000"/>
              </a:lnSpc>
              <a:buNone/>
              <a:defRPr/>
            </a:pPr>
            <a:r>
              <a:rPr lang="en-US" sz="1200">
                <a:solidFill>
                  <a:srgbClr val="EEF2F7"/>
                </a:solidFill>
                <a:latin typeface="Calibri"/>
                <a:ea typeface="Calibri"/>
                <a:cs typeface="Calibri"/>
              </a:rPr>
              <a:t>✓ Structure de projet type MVC</a:t>
            </a:r>
            <a:endParaRPr lang="en-US" sz="1200"/>
          </a:p>
          <a:p>
            <a:pPr marL="0" indent="0">
              <a:lnSpc>
                <a:spcPct val="200000"/>
              </a:lnSpc>
              <a:buNone/>
              <a:defRPr/>
            </a:pPr>
            <a:r>
              <a:rPr lang="en-US" sz="1200">
                <a:solidFill>
                  <a:srgbClr val="EEF2F7"/>
                </a:solidFill>
                <a:latin typeface="Calibri"/>
                <a:ea typeface="Calibri"/>
                <a:cs typeface="Calibri"/>
              </a:rPr>
              <a:t>✓ Schémas Mongoose (User, Account, Transaction)</a:t>
            </a:r>
            <a:endParaRPr lang="en-US" sz="1200"/>
          </a:p>
          <a:p>
            <a:pPr marL="0" indent="0">
              <a:lnSpc>
                <a:spcPct val="200000"/>
              </a:lnSpc>
              <a:buNone/>
              <a:defRPr/>
            </a:pPr>
            <a:r>
              <a:rPr lang="en-US" sz="1200">
                <a:solidFill>
                  <a:srgbClr val="EEF2F7"/>
                </a:solidFill>
                <a:latin typeface="Calibri"/>
                <a:ea typeface="Calibri"/>
                <a:cs typeface="Calibri"/>
              </a:rPr>
              <a:t>✓ Liste des endpoints REST à implémenter</a:t>
            </a:r>
            <a:endParaRPr lang="en-US" sz="1200"/>
          </a:p>
          <a:p>
            <a:pPr marL="0" indent="0">
              <a:lnSpc>
                <a:spcPct val="200000"/>
              </a:lnSpc>
              <a:buNone/>
              <a:defRPr/>
            </a:pPr>
            <a:r>
              <a:rPr lang="en-US" sz="1200">
                <a:solidFill>
                  <a:srgbClr val="EEF2F7"/>
                </a:solidFill>
                <a:latin typeface="Calibri"/>
                <a:ea typeface="Calibri"/>
                <a:cs typeface="Calibri"/>
              </a:rPr>
              <a:t>✓ Plan de tâches par </a:t>
            </a:r>
            <a:r>
              <a:rPr lang="fr-FR" sz="1200">
                <a:solidFill>
                  <a:srgbClr val="EEF2F7"/>
                </a:solidFill>
                <a:latin typeface="Calibri"/>
                <a:ea typeface="Calibri"/>
                <a:cs typeface="Calibri"/>
              </a:rPr>
              <a:t>priorités</a:t>
            </a:r>
            <a:endParaRPr lang="en-US" sz="1200"/>
          </a:p>
        </p:txBody>
      </p:sp>
      <p:sp>
        <p:nvSpPr>
          <p:cNvPr id="448893537" name="Text 8"/>
          <p:cNvSpPr/>
          <p:nvPr/>
        </p:nvSpPr>
        <p:spPr bwMode="auto">
          <a:xfrm>
            <a:off x="274320" y="4709160"/>
            <a:ext cx="8595360" cy="347472"/>
          </a:xfrm>
          <a:prstGeom prst="rect">
            <a:avLst/>
          </a:prstGeom>
          <a:noFill/>
          <a:ln/>
        </p:spPr>
        <p:txBody>
          <a:bodyPr wrap="square" rtlCol="0" anchor="ctr"/>
          <a:lstStyle/>
          <a:p>
            <a:pPr marL="0" indent="0" algn="ctr">
              <a:buNone/>
              <a:defRPr/>
            </a:pPr>
            <a:r>
              <a:rPr lang="en-US" sz="1100" i="1">
                <a:solidFill>
                  <a:srgbClr val="94A3B8"/>
                </a:solidFill>
                <a:latin typeface="Calibri"/>
                <a:ea typeface="Calibri"/>
                <a:cs typeface="Calibri"/>
              </a:rPr>
              <a:t>Contribution humaine : valider les choix, adapter au cahier des charges, arbitrer les compromis</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EEF2F7"/>
        </a:solidFill>
      </p:bgPr>
    </p:bg>
    <p:spTree>
      <p:nvGrpSpPr>
        <p:cNvPr id="1" name=""/>
        <p:cNvGrpSpPr/>
        <p:nvPr/>
      </p:nvGrpSpPr>
      <p:grpSpPr bwMode="auto">
        <a:xfrm>
          <a:off x="0" y="0"/>
          <a:ext cx="0" cy="0"/>
          <a:chOff x="0" y="0"/>
          <a:chExt cx="0" cy="0"/>
        </a:xfrm>
      </p:grpSpPr>
      <p:sp>
        <p:nvSpPr>
          <p:cNvPr id="42405689" name="Shape 0"/>
          <p:cNvSpPr/>
          <p:nvPr/>
        </p:nvSpPr>
        <p:spPr bwMode="auto">
          <a:xfrm>
            <a:off x="0" y="0"/>
            <a:ext cx="9144000" cy="1005840"/>
          </a:xfrm>
          <a:prstGeom prst="rect">
            <a:avLst/>
          </a:prstGeom>
          <a:solidFill>
            <a:srgbClr val="0D1B2A"/>
          </a:solidFill>
          <a:ln w="12700">
            <a:solidFill>
              <a:srgbClr val="0D1B2A"/>
            </a:solidFill>
            <a:prstDash val="solid"/>
          </a:ln>
        </p:spPr>
      </p:sp>
      <p:sp>
        <p:nvSpPr>
          <p:cNvPr id="591992437" name="Text 1"/>
          <p:cNvSpPr/>
          <p:nvPr/>
        </p:nvSpPr>
        <p:spPr bwMode="auto">
          <a:xfrm>
            <a:off x="365760" y="0"/>
            <a:ext cx="8412480" cy="1005840"/>
          </a:xfrm>
          <a:prstGeom prst="rect">
            <a:avLst/>
          </a:prstGeom>
          <a:noFill/>
          <a:ln/>
        </p:spPr>
        <p:txBody>
          <a:bodyPr wrap="square" rtlCol="0" anchor="ctr"/>
          <a:lstStyle/>
          <a:p>
            <a:pPr marL="0" indent="0">
              <a:buNone/>
              <a:defRPr/>
            </a:pPr>
            <a:r>
              <a:rPr lang="en-US" sz="2200" b="1">
                <a:solidFill>
                  <a:srgbClr val="FFFFFF"/>
                </a:solidFill>
                <a:latin typeface="Calibri"/>
                <a:ea typeface="Calibri"/>
                <a:cs typeface="Calibri"/>
              </a:rPr>
              <a:t>Le défi du contexte — limite des IA hors IDE</a:t>
            </a:r>
            <a:endParaRPr lang="en-US" sz="2200"/>
          </a:p>
        </p:txBody>
      </p:sp>
      <p:sp>
        <p:nvSpPr>
          <p:cNvPr id="1219956430" name="Shape 2"/>
          <p:cNvSpPr/>
          <p:nvPr/>
        </p:nvSpPr>
        <p:spPr bwMode="auto">
          <a:xfrm>
            <a:off x="274320" y="1188720"/>
            <a:ext cx="4114800" cy="3474720"/>
          </a:xfrm>
          <a:prstGeom prst="rect">
            <a:avLst/>
          </a:prstGeom>
          <a:solidFill>
            <a:srgbClr val="FFF0F0"/>
          </a:solidFill>
          <a:ln w="19050">
            <a:solidFill>
              <a:srgbClr val="E53935"/>
            </a:solidFill>
            <a:prstDash val="solid"/>
          </a:ln>
          <a:effectLst>
            <a:outerShdw blurRad="101600" dist="38100" dir="8100000" sx="100000" sy="100000" kx="0" ky="0" algn="bl" rotWithShape="0">
              <a:srgbClr val="000000">
                <a:alpha val="18000"/>
              </a:srgbClr>
            </a:outerShdw>
          </a:effectLst>
        </p:spPr>
      </p:sp>
      <p:sp>
        <p:nvSpPr>
          <p:cNvPr id="1862377619" name="Shape 3"/>
          <p:cNvSpPr/>
          <p:nvPr/>
        </p:nvSpPr>
        <p:spPr bwMode="auto">
          <a:xfrm>
            <a:off x="274320" y="1188720"/>
            <a:ext cx="4114800" cy="73152"/>
          </a:xfrm>
          <a:prstGeom prst="rect">
            <a:avLst/>
          </a:prstGeom>
          <a:solidFill>
            <a:srgbClr val="E53935"/>
          </a:solidFill>
          <a:ln w="12700">
            <a:solidFill>
              <a:srgbClr val="E53935"/>
            </a:solidFill>
            <a:prstDash val="solid"/>
          </a:ln>
        </p:spPr>
      </p:sp>
      <p:sp>
        <p:nvSpPr>
          <p:cNvPr id="286430181" name="Text 4"/>
          <p:cNvSpPr/>
          <p:nvPr/>
        </p:nvSpPr>
        <p:spPr bwMode="auto">
          <a:xfrm>
            <a:off x="457200" y="1325880"/>
            <a:ext cx="3749040" cy="502920"/>
          </a:xfrm>
          <a:prstGeom prst="rect">
            <a:avLst/>
          </a:prstGeom>
          <a:noFill/>
          <a:ln/>
        </p:spPr>
        <p:txBody>
          <a:bodyPr wrap="square" rtlCol="0" anchor="ctr"/>
          <a:lstStyle/>
          <a:p>
            <a:pPr marL="0" indent="0">
              <a:buNone/>
              <a:defRPr/>
            </a:pPr>
            <a:r>
              <a:rPr lang="en-US" sz="1400" b="1">
                <a:solidFill>
                  <a:srgbClr val="B71C1C"/>
                </a:solidFill>
                <a:latin typeface="Calibri"/>
                <a:ea typeface="Calibri"/>
                <a:cs typeface="Calibri"/>
              </a:rPr>
              <a:t>⚠️  Problème identifié</a:t>
            </a:r>
            <a:endParaRPr lang="en-US" sz="1400"/>
          </a:p>
        </p:txBody>
      </p:sp>
      <p:sp>
        <p:nvSpPr>
          <p:cNvPr id="99139103" name="Text 5"/>
          <p:cNvSpPr/>
          <p:nvPr/>
        </p:nvSpPr>
        <p:spPr bwMode="auto">
          <a:xfrm>
            <a:off x="457200" y="1920240"/>
            <a:ext cx="3749040" cy="2743200"/>
          </a:xfrm>
          <a:prstGeom prst="rect">
            <a:avLst/>
          </a:prstGeom>
          <a:noFill/>
          <a:ln/>
        </p:spPr>
        <p:txBody>
          <a:bodyPr wrap="square" rtlCol="0" anchor="t"/>
          <a:lstStyle/>
          <a:p>
            <a:pPr marL="0" indent="0">
              <a:buNone/>
              <a:defRPr/>
            </a:pPr>
            <a:r>
              <a:rPr lang="en-US" sz="1200" b="1">
                <a:solidFill>
                  <a:srgbClr val="1A1A2E"/>
                </a:solidFill>
                <a:latin typeface="Calibri"/>
                <a:ea typeface="Calibri"/>
                <a:cs typeface="Calibri"/>
              </a:rPr>
              <a:t>L'IA hors IDE (claude.ai, ChatGPT…)</a:t>
            </a:r>
            <a:r>
              <a:rPr lang="fr-FR" sz="1200" b="1">
                <a:solidFill>
                  <a:srgbClr val="1A1A2E"/>
                </a:solidFill>
                <a:latin typeface="Calibri"/>
                <a:ea typeface="Calibri"/>
                <a:cs typeface="Calibri"/>
              </a:rPr>
              <a:t> </a:t>
            </a:r>
            <a:r>
              <a:rPr lang="en-US" sz="1200" b="1">
                <a:solidFill>
                  <a:srgbClr val="1A1A2E"/>
                </a:solidFill>
                <a:latin typeface="Calibri"/>
                <a:ea typeface="Calibri"/>
                <a:cs typeface="Calibri"/>
              </a:rPr>
              <a:t>n'a pas accès au code existant.</a:t>
            </a:r>
            <a:endParaRPr lang="en-US" sz="1200"/>
          </a:p>
          <a:p>
            <a:pPr marL="0" indent="0">
              <a:buNone/>
              <a:defRPr/>
            </a:pPr>
            <a:r>
              <a:rPr lang="en-US" sz="1200">
                <a:solidFill>
                  <a:srgbClr val="1A1A2E"/>
                </a:solidFill>
                <a:latin typeface="Calibri"/>
                <a:ea typeface="Calibri"/>
                <a:cs typeface="Calibri"/>
              </a:rPr>
              <a:t> </a:t>
            </a:r>
            <a:endParaRPr lang="en-US" sz="1200"/>
          </a:p>
          <a:p>
            <a:pPr marL="0" indent="0">
              <a:spcBef>
                <a:spcPts val="0"/>
              </a:spcBef>
              <a:spcAft>
                <a:spcPts val="1417"/>
              </a:spcAft>
              <a:buNone/>
              <a:defRPr/>
            </a:pPr>
            <a:r>
              <a:rPr lang="en-US" sz="1200">
                <a:solidFill>
                  <a:srgbClr val="1A1A2E"/>
                </a:solidFill>
                <a:latin typeface="Calibri"/>
                <a:ea typeface="Calibri"/>
                <a:cs typeface="Calibri"/>
              </a:rPr>
              <a:t>→ Impossible de lui donner tout le code</a:t>
            </a:r>
            <a:r>
              <a:rPr lang="en-US" sz="1200">
                <a:solidFill>
                  <a:srgbClr val="1A1A2E"/>
                </a:solidFill>
                <a:latin typeface="Calibri"/>
                <a:ea typeface="Calibri"/>
                <a:cs typeface="Calibri"/>
              </a:rPr>
              <a:t> (limites de tokens / abonnement)</a:t>
            </a:r>
            <a:endParaRPr lang="en-US" sz="1200"/>
          </a:p>
          <a:p>
            <a:pPr marL="0" indent="0">
              <a:spcBef>
                <a:spcPts val="0"/>
              </a:spcBef>
              <a:spcAft>
                <a:spcPts val="1417"/>
              </a:spcAft>
              <a:buNone/>
              <a:defRPr/>
            </a:pPr>
            <a:r>
              <a:rPr lang="en-US" sz="1200">
                <a:solidFill>
                  <a:srgbClr val="1A1A2E"/>
                </a:solidFill>
                <a:latin typeface="Calibri"/>
                <a:ea typeface="Calibri"/>
                <a:cs typeface="Calibri"/>
              </a:rPr>
              <a:t>→ Elle répond sans contexte réel :</a:t>
            </a:r>
            <a:r>
              <a:rPr lang="fr-FR" sz="1200">
                <a:solidFill>
                  <a:srgbClr val="1A1A2E"/>
                </a:solidFill>
                <a:latin typeface="Calibri"/>
                <a:ea typeface="Calibri"/>
                <a:cs typeface="Calibri"/>
              </a:rPr>
              <a:t> </a:t>
            </a:r>
            <a:r>
              <a:rPr lang="en-US" sz="1200">
                <a:solidFill>
                  <a:srgbClr val="1A1A2E"/>
                </a:solidFill>
                <a:latin typeface="Calibri"/>
                <a:ea typeface="Calibri"/>
                <a:cs typeface="Calibri"/>
              </a:rPr>
              <a:t>solutions hors-sujet</a:t>
            </a:r>
            <a:endParaRPr lang="en-US" sz="1200"/>
          </a:p>
          <a:p>
            <a:pPr marL="0" indent="0">
              <a:spcBef>
                <a:spcPts val="0"/>
              </a:spcBef>
              <a:spcAft>
                <a:spcPts val="1417"/>
              </a:spcAft>
              <a:buNone/>
              <a:defRPr/>
            </a:pPr>
            <a:r>
              <a:rPr lang="en-US" sz="1200">
                <a:solidFill>
                  <a:srgbClr val="1A1A2E"/>
                </a:solidFill>
                <a:latin typeface="Calibri"/>
                <a:ea typeface="Calibri"/>
                <a:cs typeface="Calibri"/>
              </a:rPr>
              <a:t>→ Démarrer un projet de zéro avec l'IA</a:t>
            </a:r>
            <a:r>
              <a:rPr lang="en-US" sz="1200">
                <a:solidFill>
                  <a:srgbClr val="1A1A2E"/>
                </a:solidFill>
                <a:latin typeface="Calibri"/>
                <a:ea typeface="Calibri"/>
                <a:cs typeface="Calibri"/>
              </a:rPr>
              <a:t> est bien plus simple qu'à mi-chemin</a:t>
            </a:r>
            <a:endParaRPr lang="en-US" sz="1200"/>
          </a:p>
        </p:txBody>
      </p:sp>
      <p:sp>
        <p:nvSpPr>
          <p:cNvPr id="1005700112" name="Shape 6"/>
          <p:cNvSpPr/>
          <p:nvPr/>
        </p:nvSpPr>
        <p:spPr bwMode="auto">
          <a:xfrm>
            <a:off x="4754880" y="1188720"/>
            <a:ext cx="4114800" cy="3474720"/>
          </a:xfrm>
          <a:prstGeom prst="rect">
            <a:avLst/>
          </a:prstGeom>
          <a:solidFill>
            <a:srgbClr val="EEF9FF"/>
          </a:solidFill>
          <a:ln w="19050">
            <a:solidFill>
              <a:srgbClr val="1565C0"/>
            </a:solidFill>
            <a:prstDash val="solid"/>
          </a:ln>
          <a:effectLst>
            <a:outerShdw blurRad="101600" dist="38100" dir="8100000" sx="100000" sy="100000" kx="0" ky="0" algn="bl" rotWithShape="0">
              <a:srgbClr val="000000">
                <a:alpha val="18000"/>
              </a:srgbClr>
            </a:outerShdw>
          </a:effectLst>
        </p:spPr>
      </p:sp>
      <p:sp>
        <p:nvSpPr>
          <p:cNvPr id="568066530" name="Shape 7"/>
          <p:cNvSpPr/>
          <p:nvPr/>
        </p:nvSpPr>
        <p:spPr bwMode="auto">
          <a:xfrm>
            <a:off x="4754880" y="1188720"/>
            <a:ext cx="4114800" cy="73152"/>
          </a:xfrm>
          <a:prstGeom prst="rect">
            <a:avLst/>
          </a:prstGeom>
          <a:solidFill>
            <a:srgbClr val="1565C0"/>
          </a:solidFill>
          <a:ln w="12700">
            <a:solidFill>
              <a:srgbClr val="1565C0"/>
            </a:solidFill>
            <a:prstDash val="solid"/>
          </a:ln>
        </p:spPr>
      </p:sp>
      <p:sp>
        <p:nvSpPr>
          <p:cNvPr id="1629448624" name="Text 8"/>
          <p:cNvSpPr/>
          <p:nvPr/>
        </p:nvSpPr>
        <p:spPr bwMode="auto">
          <a:xfrm>
            <a:off x="4937760" y="1325880"/>
            <a:ext cx="3749040" cy="502920"/>
          </a:xfrm>
          <a:prstGeom prst="rect">
            <a:avLst/>
          </a:prstGeom>
          <a:noFill/>
          <a:ln/>
        </p:spPr>
        <p:txBody>
          <a:bodyPr wrap="square" rtlCol="0" anchor="ctr"/>
          <a:lstStyle/>
          <a:p>
            <a:pPr marL="0" indent="0">
              <a:buNone/>
              <a:defRPr/>
            </a:pPr>
            <a:r>
              <a:rPr lang="en-US" sz="1400" b="1">
                <a:solidFill>
                  <a:srgbClr val="1565C0"/>
                </a:solidFill>
                <a:latin typeface="Asana"/>
                <a:ea typeface="Asana"/>
                <a:cs typeface="Asana"/>
              </a:rPr>
              <a:t>⭐</a:t>
            </a:r>
            <a:r>
              <a:rPr lang="en-US" sz="1400" b="1">
                <a:solidFill>
                  <a:srgbClr val="1565C0"/>
                </a:solidFill>
                <a:latin typeface="Calibri"/>
                <a:ea typeface="Calibri"/>
                <a:cs typeface="Calibri"/>
              </a:rPr>
              <a:t>  Ce que j'en retiens</a:t>
            </a:r>
            <a:endParaRPr lang="en-US" sz="1400"/>
          </a:p>
        </p:txBody>
      </p:sp>
      <p:sp>
        <p:nvSpPr>
          <p:cNvPr id="273975879" name="Text 9"/>
          <p:cNvSpPr/>
          <p:nvPr/>
        </p:nvSpPr>
        <p:spPr bwMode="auto">
          <a:xfrm>
            <a:off x="4937760" y="1920240"/>
            <a:ext cx="3749040" cy="2743200"/>
          </a:xfrm>
          <a:prstGeom prst="rect">
            <a:avLst/>
          </a:prstGeom>
          <a:noFill/>
          <a:ln/>
        </p:spPr>
        <p:txBody>
          <a:bodyPr wrap="square" rtlCol="0" anchor="t"/>
          <a:lstStyle/>
          <a:p>
            <a:pPr marL="0" indent="0" algn="l">
              <a:buNone/>
              <a:defRPr/>
            </a:pPr>
            <a:r>
              <a:rPr lang="en-US" sz="1200" b="1">
                <a:solidFill>
                  <a:srgbClr val="1A1A2E"/>
                </a:solidFill>
                <a:latin typeface="Calibri"/>
                <a:ea typeface="Calibri"/>
                <a:cs typeface="Calibri"/>
              </a:rPr>
              <a:t>Le contexte est la clé de l'efficacité</a:t>
            </a:r>
            <a:r>
              <a:rPr lang="fr-FR" sz="1200" b="1">
                <a:solidFill>
                  <a:srgbClr val="1A1A2E"/>
                </a:solidFill>
                <a:latin typeface="Calibri"/>
                <a:ea typeface="Calibri"/>
                <a:cs typeface="Calibri"/>
              </a:rPr>
              <a:t> </a:t>
            </a:r>
            <a:r>
              <a:rPr lang="en-US" sz="1200" b="1">
                <a:solidFill>
                  <a:srgbClr val="1A1A2E"/>
                </a:solidFill>
                <a:latin typeface="Calibri"/>
                <a:ea typeface="Calibri"/>
                <a:cs typeface="Calibri"/>
              </a:rPr>
              <a:t>de l'IA en développement.</a:t>
            </a:r>
            <a:endParaRPr lang="en-US" sz="1200"/>
          </a:p>
          <a:p>
            <a:pPr marL="0" indent="0">
              <a:buNone/>
              <a:defRPr/>
            </a:pPr>
            <a:r>
              <a:rPr lang="en-US" sz="1200">
                <a:solidFill>
                  <a:srgbClr val="1A1A2E"/>
                </a:solidFill>
                <a:latin typeface="Calibri"/>
                <a:ea typeface="Calibri"/>
                <a:cs typeface="Calibri"/>
              </a:rPr>
              <a:t> </a:t>
            </a:r>
            <a:endParaRPr lang="en-US" sz="1200"/>
          </a:p>
          <a:p>
            <a:pPr marL="0" indent="0">
              <a:spcAft>
                <a:spcPts val="1417"/>
              </a:spcAft>
              <a:buNone/>
              <a:defRPr/>
            </a:pPr>
            <a:r>
              <a:rPr lang="en-US" sz="1200">
                <a:solidFill>
                  <a:srgbClr val="1A1A2E"/>
                </a:solidFill>
                <a:latin typeface="Calibri"/>
                <a:ea typeface="Calibri"/>
                <a:cs typeface="Calibri"/>
              </a:rPr>
              <a:t>→ Sans contexte = réponses génériques</a:t>
            </a:r>
            <a:endParaRPr lang="en-US" sz="1200"/>
          </a:p>
          <a:p>
            <a:pPr marL="0" indent="0">
              <a:spcAft>
                <a:spcPts val="1417"/>
              </a:spcAft>
              <a:buNone/>
              <a:defRPr/>
            </a:pPr>
            <a:r>
              <a:rPr lang="en-US" sz="1200">
                <a:solidFill>
                  <a:srgbClr val="1A1A2E"/>
                </a:solidFill>
                <a:latin typeface="Calibri"/>
                <a:ea typeface="Calibri"/>
                <a:cs typeface="Calibri"/>
              </a:rPr>
              <a:t>→ Avec contexte = aide précise et pertinente</a:t>
            </a:r>
            <a:endParaRPr lang="en-US" sz="1200"/>
          </a:p>
          <a:p>
            <a:pPr marL="0" indent="0">
              <a:spcAft>
                <a:spcPts val="1417"/>
              </a:spcAft>
              <a:buNone/>
              <a:defRPr/>
            </a:pPr>
            <a:r>
              <a:rPr lang="en-US" sz="1200">
                <a:solidFill>
                  <a:srgbClr val="1A1A2E"/>
                </a:solidFill>
                <a:latin typeface="Calibri"/>
                <a:ea typeface="Calibri"/>
                <a:cs typeface="Calibri"/>
              </a:rPr>
              <a:t>→ L'IA est plus efficace comme</a:t>
            </a:r>
            <a:r>
              <a:rPr lang="fr-FR" sz="1200">
                <a:solidFill>
                  <a:srgbClr val="1A1A2E"/>
                </a:solidFill>
                <a:latin typeface="Calibri"/>
                <a:ea typeface="Calibri"/>
                <a:cs typeface="Calibri"/>
              </a:rPr>
              <a:t> </a:t>
            </a:r>
            <a:r>
              <a:rPr lang="en-US" sz="1200">
                <a:solidFill>
                  <a:srgbClr val="1A1A2E"/>
                </a:solidFill>
                <a:latin typeface="Calibri"/>
                <a:ea typeface="Calibri"/>
                <a:cs typeface="Calibri"/>
              </a:rPr>
              <a:t>copilote que comme oracle externe</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0D1B2A"/>
        </a:solidFill>
      </p:bgPr>
    </p:bg>
    <p:spTree>
      <p:nvGrpSpPr>
        <p:cNvPr id="1" name=""/>
        <p:cNvGrpSpPr/>
        <p:nvPr/>
      </p:nvGrpSpPr>
      <p:grpSpPr bwMode="auto">
        <a:xfrm>
          <a:off x="0" y="0"/>
          <a:ext cx="0" cy="0"/>
          <a:chOff x="0" y="0"/>
          <a:chExt cx="0" cy="0"/>
        </a:xfrm>
      </p:grpSpPr>
      <p:sp>
        <p:nvSpPr>
          <p:cNvPr id="128123486" name="Shape 0"/>
          <p:cNvSpPr/>
          <p:nvPr/>
        </p:nvSpPr>
        <p:spPr bwMode="auto">
          <a:xfrm>
            <a:off x="0" y="0"/>
            <a:ext cx="9144000" cy="1005840"/>
          </a:xfrm>
          <a:prstGeom prst="rect">
            <a:avLst/>
          </a:prstGeom>
          <a:solidFill>
            <a:srgbClr val="00B4D8"/>
          </a:solidFill>
          <a:ln w="12700">
            <a:solidFill>
              <a:srgbClr val="00B4D8"/>
            </a:solidFill>
            <a:prstDash val="solid"/>
          </a:ln>
        </p:spPr>
      </p:sp>
      <p:sp>
        <p:nvSpPr>
          <p:cNvPr id="489986187" name="Text 1"/>
          <p:cNvSpPr/>
          <p:nvPr/>
        </p:nvSpPr>
        <p:spPr bwMode="auto">
          <a:xfrm>
            <a:off x="365760" y="0"/>
            <a:ext cx="8412480" cy="1005840"/>
          </a:xfrm>
          <a:prstGeom prst="rect">
            <a:avLst/>
          </a:prstGeom>
          <a:noFill/>
          <a:ln/>
        </p:spPr>
        <p:txBody>
          <a:bodyPr wrap="square" rtlCol="0" anchor="ctr"/>
          <a:lstStyle/>
          <a:p>
            <a:pPr marL="0" indent="0">
              <a:buNone/>
              <a:defRPr/>
            </a:pPr>
            <a:r>
              <a:rPr lang="en-US" sz="2200" b="1">
                <a:solidFill>
                  <a:srgbClr val="0D1B2A"/>
                </a:solidFill>
                <a:latin typeface="Calibri"/>
                <a:ea typeface="Calibri"/>
                <a:cs typeface="Calibri"/>
              </a:rPr>
              <a:t>Solution : GitHub Copilot intégré à VS Code</a:t>
            </a:r>
            <a:endParaRPr lang="en-US" sz="2200"/>
          </a:p>
        </p:txBody>
      </p:sp>
      <p:sp>
        <p:nvSpPr>
          <p:cNvPr id="308727207" name="Text 2"/>
          <p:cNvSpPr/>
          <p:nvPr/>
        </p:nvSpPr>
        <p:spPr bwMode="auto">
          <a:xfrm>
            <a:off x="365760" y="1143000"/>
            <a:ext cx="8412480" cy="411480"/>
          </a:xfrm>
          <a:prstGeom prst="rect">
            <a:avLst/>
          </a:prstGeom>
          <a:noFill/>
          <a:ln/>
        </p:spPr>
        <p:txBody>
          <a:bodyPr wrap="square" rtlCol="0" anchor="ctr"/>
          <a:lstStyle/>
          <a:p>
            <a:pPr marL="0" indent="0">
              <a:buNone/>
              <a:defRPr/>
            </a:pPr>
            <a:r>
              <a:rPr lang="en-US" sz="1400" b="1">
                <a:solidFill>
                  <a:srgbClr val="00B4D8"/>
                </a:solidFill>
                <a:latin typeface="Calibri"/>
                <a:ea typeface="Calibri"/>
                <a:cs typeface="Calibri"/>
              </a:rPr>
              <a:t>Pourquoi ce choix ?</a:t>
            </a:r>
            <a:endParaRPr lang="en-US" sz="1400"/>
          </a:p>
        </p:txBody>
      </p:sp>
      <p:sp>
        <p:nvSpPr>
          <p:cNvPr id="1885488442" name="Shape 3"/>
          <p:cNvSpPr/>
          <p:nvPr/>
        </p:nvSpPr>
        <p:spPr bwMode="auto">
          <a:xfrm>
            <a:off x="365760" y="1645920"/>
            <a:ext cx="8412480" cy="658368"/>
          </a:xfrm>
          <a:prstGeom prst="rect">
            <a:avLst/>
          </a:prstGeom>
          <a:solidFill>
            <a:srgbClr val="132338"/>
          </a:solidFill>
          <a:ln w="12700">
            <a:solidFill>
              <a:srgbClr val="1E4976"/>
            </a:solidFill>
            <a:prstDash val="solid"/>
          </a:ln>
          <a:effectLst>
            <a:outerShdw blurRad="101600" dist="38100" dir="8100000" sx="100000" sy="100000" kx="0" ky="0" algn="bl" rotWithShape="0">
              <a:srgbClr val="000000">
                <a:alpha val="18000"/>
              </a:srgbClr>
            </a:outerShdw>
          </a:effectLst>
        </p:spPr>
      </p:sp>
      <p:sp>
        <p:nvSpPr>
          <p:cNvPr id="487157100" name="Text 4"/>
          <p:cNvSpPr/>
          <p:nvPr/>
        </p:nvSpPr>
        <p:spPr bwMode="auto">
          <a:xfrm>
            <a:off x="457200" y="1691640"/>
            <a:ext cx="640080" cy="566928"/>
          </a:xfrm>
          <a:prstGeom prst="rect">
            <a:avLst/>
          </a:prstGeom>
          <a:noFill/>
          <a:ln/>
        </p:spPr>
        <p:txBody>
          <a:bodyPr wrap="square" rtlCol="0" anchor="ctr"/>
          <a:lstStyle/>
          <a:p>
            <a:pPr marL="0" indent="0" algn="ctr">
              <a:buNone/>
              <a:defRPr/>
            </a:pPr>
            <a:endParaRPr lang="en-US" sz="2200"/>
          </a:p>
        </p:txBody>
      </p:sp>
      <p:sp>
        <p:nvSpPr>
          <p:cNvPr id="616837772" name="Text 5"/>
          <p:cNvSpPr/>
          <p:nvPr/>
        </p:nvSpPr>
        <p:spPr bwMode="auto">
          <a:xfrm>
            <a:off x="1188720" y="1691640"/>
            <a:ext cx="7406640" cy="566928"/>
          </a:xfrm>
          <a:prstGeom prst="rect">
            <a:avLst/>
          </a:prstGeom>
          <a:noFill/>
          <a:ln/>
        </p:spPr>
        <p:txBody>
          <a:bodyPr wrap="square" rtlCol="0" anchor="ctr"/>
          <a:lstStyle/>
          <a:p>
            <a:pPr marL="0" indent="0">
              <a:buNone/>
              <a:defRPr/>
            </a:pPr>
            <a:r>
              <a:rPr lang="en-US" sz="1300">
                <a:solidFill>
                  <a:srgbClr val="EEF2F7"/>
                </a:solidFill>
                <a:latin typeface="Calibri"/>
                <a:ea typeface="Calibri"/>
                <a:cs typeface="Calibri"/>
              </a:rPr>
              <a:t>Contexte automatique : Copilot lit les fichiers ouverts dans VS Code</a:t>
            </a:r>
            <a:endParaRPr lang="en-US" sz="1300"/>
          </a:p>
        </p:txBody>
      </p:sp>
      <p:sp>
        <p:nvSpPr>
          <p:cNvPr id="1829674420" name="Shape 6"/>
          <p:cNvSpPr/>
          <p:nvPr/>
        </p:nvSpPr>
        <p:spPr bwMode="auto">
          <a:xfrm>
            <a:off x="365760" y="2450592"/>
            <a:ext cx="8412480" cy="658368"/>
          </a:xfrm>
          <a:prstGeom prst="rect">
            <a:avLst/>
          </a:prstGeom>
          <a:solidFill>
            <a:srgbClr val="132338"/>
          </a:solidFill>
          <a:ln w="12700">
            <a:solidFill>
              <a:srgbClr val="1E4976"/>
            </a:solidFill>
            <a:prstDash val="solid"/>
          </a:ln>
          <a:effectLst>
            <a:outerShdw blurRad="101600" dist="38100" dir="8100000" sx="100000" sy="100000" kx="0" ky="0" algn="bl" rotWithShape="0">
              <a:srgbClr val="000000">
                <a:alpha val="18000"/>
              </a:srgbClr>
            </a:outerShdw>
          </a:effectLst>
        </p:spPr>
      </p:sp>
      <p:sp>
        <p:nvSpPr>
          <p:cNvPr id="1948188865" name="Text 7"/>
          <p:cNvSpPr/>
          <p:nvPr/>
        </p:nvSpPr>
        <p:spPr bwMode="auto">
          <a:xfrm>
            <a:off x="457200" y="2496312"/>
            <a:ext cx="640080" cy="566928"/>
          </a:xfrm>
          <a:prstGeom prst="rect">
            <a:avLst/>
          </a:prstGeom>
          <a:noFill/>
          <a:ln/>
        </p:spPr>
        <p:txBody>
          <a:bodyPr wrap="square" rtlCol="0" anchor="ctr"/>
          <a:lstStyle/>
          <a:p>
            <a:pPr marL="0" indent="0" algn="ctr">
              <a:buNone/>
              <a:defRPr/>
            </a:pPr>
            <a:endParaRPr lang="en-US" sz="2200"/>
          </a:p>
        </p:txBody>
      </p:sp>
      <p:sp>
        <p:nvSpPr>
          <p:cNvPr id="2022230537" name="Text 8"/>
          <p:cNvSpPr/>
          <p:nvPr/>
        </p:nvSpPr>
        <p:spPr bwMode="auto">
          <a:xfrm>
            <a:off x="1188720" y="2496312"/>
            <a:ext cx="7406640" cy="566928"/>
          </a:xfrm>
          <a:prstGeom prst="rect">
            <a:avLst/>
          </a:prstGeom>
          <a:noFill/>
          <a:ln/>
        </p:spPr>
        <p:txBody>
          <a:bodyPr wrap="square" rtlCol="0" anchor="ctr"/>
          <a:lstStyle/>
          <a:p>
            <a:pPr marL="0" indent="0">
              <a:buNone/>
              <a:defRPr/>
            </a:pPr>
            <a:r>
              <a:rPr lang="en-US" sz="1300">
                <a:solidFill>
                  <a:srgbClr val="EEF2F7"/>
                </a:solidFill>
                <a:latin typeface="Calibri"/>
                <a:ea typeface="Calibri"/>
                <a:cs typeface="Calibri"/>
              </a:rPr>
              <a:t>Chat contextuel : </a:t>
            </a:r>
            <a:r>
              <a:rPr lang="fr-FR" sz="1300">
                <a:solidFill>
                  <a:srgbClr val="EEF2F7"/>
                </a:solidFill>
                <a:latin typeface="Calibri"/>
                <a:ea typeface="Calibri"/>
                <a:cs typeface="Calibri"/>
              </a:rPr>
              <a:t>il </a:t>
            </a:r>
            <a:r>
              <a:rPr lang="en-US" sz="1300">
                <a:solidFill>
                  <a:srgbClr val="EEF2F7"/>
                </a:solidFill>
                <a:latin typeface="Calibri"/>
                <a:ea typeface="Calibri"/>
                <a:cs typeface="Calibri"/>
              </a:rPr>
              <a:t>peut répondre sur un fichier spécifique sans copier-colle</a:t>
            </a:r>
            <a:r>
              <a:rPr lang="fr-FR" sz="1300">
                <a:solidFill>
                  <a:srgbClr val="EEF2F7"/>
                </a:solidFill>
                <a:latin typeface="Calibri"/>
                <a:ea typeface="Calibri"/>
                <a:cs typeface="Calibri"/>
              </a:rPr>
              <a:t>r</a:t>
            </a:r>
            <a:endParaRPr lang="en-US" sz="1300"/>
          </a:p>
        </p:txBody>
      </p:sp>
      <p:sp>
        <p:nvSpPr>
          <p:cNvPr id="1742632730" name="Shape 9"/>
          <p:cNvSpPr/>
          <p:nvPr/>
        </p:nvSpPr>
        <p:spPr bwMode="auto">
          <a:xfrm>
            <a:off x="365760" y="3255264"/>
            <a:ext cx="8412480" cy="658368"/>
          </a:xfrm>
          <a:prstGeom prst="rect">
            <a:avLst/>
          </a:prstGeom>
          <a:solidFill>
            <a:srgbClr val="132338"/>
          </a:solidFill>
          <a:ln w="12700">
            <a:solidFill>
              <a:srgbClr val="1E4976"/>
            </a:solidFill>
            <a:prstDash val="solid"/>
          </a:ln>
          <a:effectLst>
            <a:outerShdw blurRad="101600" dist="38100" dir="8100000" sx="100000" sy="100000" kx="0" ky="0" algn="bl" rotWithShape="0">
              <a:srgbClr val="000000">
                <a:alpha val="18000"/>
              </a:srgbClr>
            </a:outerShdw>
          </a:effectLst>
        </p:spPr>
      </p:sp>
      <p:sp>
        <p:nvSpPr>
          <p:cNvPr id="417659717" name="Text 10"/>
          <p:cNvSpPr/>
          <p:nvPr/>
        </p:nvSpPr>
        <p:spPr bwMode="auto">
          <a:xfrm>
            <a:off x="457200" y="3300984"/>
            <a:ext cx="640080" cy="566928"/>
          </a:xfrm>
          <a:prstGeom prst="rect">
            <a:avLst/>
          </a:prstGeom>
          <a:noFill/>
          <a:ln/>
        </p:spPr>
        <p:txBody>
          <a:bodyPr wrap="square" rtlCol="0" anchor="ctr"/>
          <a:lstStyle/>
          <a:p>
            <a:pPr marL="0" indent="0" algn="ctr">
              <a:buNone/>
              <a:defRPr/>
            </a:pPr>
            <a:endParaRPr lang="en-US" sz="2200"/>
          </a:p>
        </p:txBody>
      </p:sp>
      <p:sp>
        <p:nvSpPr>
          <p:cNvPr id="234109098" name="Text 11"/>
          <p:cNvSpPr/>
          <p:nvPr/>
        </p:nvSpPr>
        <p:spPr bwMode="auto">
          <a:xfrm>
            <a:off x="1188720" y="3300984"/>
            <a:ext cx="7406640" cy="566928"/>
          </a:xfrm>
          <a:prstGeom prst="rect">
            <a:avLst/>
          </a:prstGeom>
          <a:noFill/>
          <a:ln/>
        </p:spPr>
        <p:txBody>
          <a:bodyPr wrap="square" rtlCol="0" anchor="ctr"/>
          <a:lstStyle/>
          <a:p>
            <a:pPr marL="0" indent="0">
              <a:buNone/>
              <a:defRPr/>
            </a:pPr>
            <a:r>
              <a:rPr lang="en-US" sz="1300">
                <a:solidFill>
                  <a:srgbClr val="EEF2F7"/>
                </a:solidFill>
                <a:latin typeface="Calibri"/>
                <a:ea typeface="Calibri"/>
                <a:cs typeface="Calibri"/>
              </a:rPr>
              <a:t>Résolution de bugs : suggère des corrections directement dans le code</a:t>
            </a:r>
            <a:endParaRPr lang="en-US" sz="1300"/>
          </a:p>
        </p:txBody>
      </p:sp>
      <p:sp>
        <p:nvSpPr>
          <p:cNvPr id="632674603" name="Shape 12"/>
          <p:cNvSpPr/>
          <p:nvPr/>
        </p:nvSpPr>
        <p:spPr bwMode="auto">
          <a:xfrm>
            <a:off x="365760" y="4059936"/>
            <a:ext cx="8412480" cy="658368"/>
          </a:xfrm>
          <a:prstGeom prst="rect">
            <a:avLst/>
          </a:prstGeom>
          <a:solidFill>
            <a:srgbClr val="132338"/>
          </a:solidFill>
          <a:ln w="12700">
            <a:solidFill>
              <a:srgbClr val="1E4976"/>
            </a:solidFill>
            <a:prstDash val="solid"/>
          </a:ln>
          <a:effectLst>
            <a:outerShdw blurRad="101600" dist="38100" dir="8100000" sx="100000" sy="100000" kx="0" ky="0" algn="bl" rotWithShape="0">
              <a:srgbClr val="000000">
                <a:alpha val="18000"/>
              </a:srgbClr>
            </a:outerShdw>
          </a:effectLst>
        </p:spPr>
      </p:sp>
      <p:sp>
        <p:nvSpPr>
          <p:cNvPr id="141676466" name="Text 13"/>
          <p:cNvSpPr/>
          <p:nvPr/>
        </p:nvSpPr>
        <p:spPr bwMode="auto">
          <a:xfrm flipH="0" flipV="0">
            <a:off x="567685" y="4182108"/>
            <a:ext cx="414022" cy="414022"/>
          </a:xfrm>
          <a:prstGeom prst="rect">
            <a:avLst/>
          </a:prstGeom>
          <a:solidFill>
            <a:schemeClr val="bg1"/>
          </a:solidFill>
          <a:ln/>
        </p:spPr>
        <p:txBody>
          <a:bodyPr wrap="square" rtlCol="0" anchor="ctr"/>
          <a:lstStyle/>
          <a:p>
            <a:pPr marL="0" indent="0" algn="ctr">
              <a:buNone/>
              <a:defRPr/>
            </a:pPr>
            <a:r>
              <a:rPr lang="en-US" sz="2200">
                <a:solidFill>
                  <a:srgbClr val="000000"/>
                </a:solidFill>
              </a:rPr>
              <a:t>⚡</a:t>
            </a:r>
            <a:endParaRPr lang="en-US" sz="2200"/>
          </a:p>
        </p:txBody>
      </p:sp>
      <p:sp>
        <p:nvSpPr>
          <p:cNvPr id="1130851692" name="Text 14"/>
          <p:cNvSpPr/>
          <p:nvPr/>
        </p:nvSpPr>
        <p:spPr bwMode="auto">
          <a:xfrm>
            <a:off x="1188720" y="4105656"/>
            <a:ext cx="7406640" cy="566928"/>
          </a:xfrm>
          <a:prstGeom prst="rect">
            <a:avLst/>
          </a:prstGeom>
          <a:noFill/>
          <a:ln/>
        </p:spPr>
        <p:txBody>
          <a:bodyPr wrap="square" rtlCol="0" anchor="ctr"/>
          <a:lstStyle/>
          <a:p>
            <a:pPr marL="0" indent="0">
              <a:buNone/>
              <a:defRPr/>
            </a:pPr>
            <a:r>
              <a:rPr lang="en-US" sz="1300">
                <a:solidFill>
                  <a:srgbClr val="EEF2F7"/>
                </a:solidFill>
                <a:latin typeface="Calibri"/>
                <a:ea typeface="Calibri"/>
                <a:cs typeface="Calibri"/>
              </a:rPr>
              <a:t>Autocomplétion intelligente : </a:t>
            </a:r>
            <a:r>
              <a:rPr lang="fr-FR" sz="1300">
                <a:solidFill>
                  <a:srgbClr val="EEF2F7"/>
                </a:solidFill>
                <a:latin typeface="Calibri"/>
                <a:ea typeface="Calibri"/>
                <a:cs typeface="Calibri"/>
              </a:rPr>
              <a:t>il </a:t>
            </a:r>
            <a:r>
              <a:rPr lang="en-US" sz="1300">
                <a:solidFill>
                  <a:srgbClr val="EEF2F7"/>
                </a:solidFill>
                <a:latin typeface="Calibri"/>
                <a:ea typeface="Calibri"/>
                <a:cs typeface="Calibri"/>
              </a:rPr>
              <a:t>accélère l'écriture du </a:t>
            </a:r>
            <a:r>
              <a:rPr lang="fr-FR" sz="1300">
                <a:solidFill>
                  <a:srgbClr val="EEF2F7"/>
                </a:solidFill>
                <a:latin typeface="Calibri"/>
                <a:ea typeface="Calibri"/>
                <a:cs typeface="Calibri"/>
              </a:rPr>
              <a:t>code</a:t>
            </a:r>
            <a:endParaRPr lang="en-US" sz="1300"/>
          </a:p>
        </p:txBody>
      </p:sp>
      <p:sp>
        <p:nvSpPr>
          <p:cNvPr id="657420202" name="Text 15"/>
          <p:cNvSpPr/>
          <p:nvPr/>
        </p:nvSpPr>
        <p:spPr bwMode="auto">
          <a:xfrm>
            <a:off x="365760" y="4754880"/>
            <a:ext cx="8412480" cy="320040"/>
          </a:xfrm>
          <a:prstGeom prst="rect">
            <a:avLst/>
          </a:prstGeom>
          <a:noFill/>
          <a:ln/>
        </p:spPr>
        <p:txBody>
          <a:bodyPr wrap="square" rtlCol="0" anchor="ctr"/>
          <a:lstStyle/>
          <a:p>
            <a:pPr marL="0" indent="0" algn="ctr">
              <a:buNone/>
              <a:defRPr/>
            </a:pPr>
            <a:r>
              <a:rPr lang="en-US" sz="1100" i="1">
                <a:solidFill>
                  <a:srgbClr val="94A3B8"/>
                </a:solidFill>
                <a:latin typeface="Calibri"/>
                <a:ea typeface="Calibri"/>
                <a:cs typeface="Calibri"/>
              </a:rPr>
              <a:t>Résultat : </a:t>
            </a:r>
            <a:r>
              <a:rPr lang="fr-FR" sz="1100" i="1">
                <a:solidFill>
                  <a:srgbClr val="94A3B8"/>
                </a:solidFill>
                <a:latin typeface="Calibri"/>
                <a:ea typeface="Calibri"/>
                <a:cs typeface="Calibri"/>
              </a:rPr>
              <a:t>une </a:t>
            </a:r>
            <a:r>
              <a:rPr lang="en-US" sz="1100" i="1">
                <a:solidFill>
                  <a:srgbClr val="94A3B8"/>
                </a:solidFill>
                <a:latin typeface="Calibri"/>
                <a:ea typeface="Calibri"/>
                <a:cs typeface="Calibri"/>
              </a:rPr>
              <a:t>productivité améliorée, aide contextuelle au bon moment</a:t>
            </a:r>
            <a:r>
              <a:rPr lang="fr-FR" sz="1100" i="1">
                <a:solidFill>
                  <a:srgbClr val="94A3B8"/>
                </a:solidFill>
                <a:latin typeface="Calibri"/>
                <a:ea typeface="Calibri"/>
                <a:cs typeface="Calibri"/>
              </a:rPr>
              <a:t>, au bon endroit</a:t>
            </a:r>
            <a:endParaRPr lang="en-US" sz="1100"/>
          </a:p>
        </p:txBody>
      </p:sp>
      <p:pic>
        <p:nvPicPr>
          <p:cNvPr id="474950611" name=""/>
          <p:cNvPicPr>
            <a:picLocks noChangeAspect="1"/>
          </p:cNvPicPr>
          <p:nvPr/>
        </p:nvPicPr>
        <p:blipFill rotWithShape="1">
          <a:blip r:embed="rId3"/>
          <a:stretch/>
        </p:blipFill>
        <p:spPr bwMode="auto">
          <a:xfrm flipH="0" flipV="0">
            <a:off x="570228" y="1760472"/>
            <a:ext cx="414022" cy="429262"/>
          </a:xfrm>
          <a:prstGeom prst="rect">
            <a:avLst/>
          </a:prstGeom>
        </p:spPr>
      </p:pic>
      <p:pic>
        <p:nvPicPr>
          <p:cNvPr id="1154987998" name=""/>
          <p:cNvPicPr>
            <a:picLocks noChangeAspect="1"/>
          </p:cNvPicPr>
          <p:nvPr/>
        </p:nvPicPr>
        <p:blipFill rotWithShape="1">
          <a:blip r:embed="rId4"/>
          <a:stretch/>
        </p:blipFill>
        <p:spPr bwMode="auto">
          <a:xfrm flipH="0" flipV="0">
            <a:off x="570228" y="2565144"/>
            <a:ext cx="414022" cy="429262"/>
          </a:xfrm>
          <a:prstGeom prst="rect">
            <a:avLst/>
          </a:prstGeom>
        </p:spPr>
      </p:pic>
      <p:pic>
        <p:nvPicPr>
          <p:cNvPr id="971317027" name=""/>
          <p:cNvPicPr>
            <a:picLocks noChangeAspect="1"/>
          </p:cNvPicPr>
          <p:nvPr/>
        </p:nvPicPr>
        <p:blipFill rotWithShape="1">
          <a:blip r:embed="rId5">
            <a:extLst>
              <a:ext uri="{96DAC541-7B7A-43D3-8B79-37D633B846F1}">
                <asvg:svgBlip xmlns:asvg="http://schemas.microsoft.com/office/drawing/2016/SVG/main" r:embed="rId6"/>
              </a:ext>
            </a:extLst>
          </a:blip>
          <a:stretch/>
        </p:blipFill>
        <p:spPr bwMode="auto">
          <a:xfrm flipH="0" flipV="0">
            <a:off x="570228" y="3377436"/>
            <a:ext cx="414022" cy="414022"/>
          </a:xfrm>
          <a:prstGeom prst="rect">
            <a:avLst/>
          </a:prstGeom>
          <a:solidFill>
            <a:schemeClr val="bg1"/>
          </a:solid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0D1B2A"/>
        </a:solidFill>
      </p:bgPr>
    </p:bg>
    <p:spTree>
      <p:nvGrpSpPr>
        <p:cNvPr id="1" name=""/>
        <p:cNvGrpSpPr/>
        <p:nvPr/>
      </p:nvGrpSpPr>
      <p:grpSpPr bwMode="auto">
        <a:xfrm>
          <a:off x="0" y="0"/>
          <a:ext cx="0" cy="0"/>
          <a:chOff x="0" y="0"/>
          <a:chExt cx="0" cy="0"/>
        </a:xfrm>
      </p:grpSpPr>
      <p:sp>
        <p:nvSpPr>
          <p:cNvPr id="1347433826" name="Shape 0"/>
          <p:cNvSpPr/>
          <p:nvPr/>
        </p:nvSpPr>
        <p:spPr bwMode="auto">
          <a:xfrm>
            <a:off x="0" y="4389120"/>
            <a:ext cx="9144000" cy="754379"/>
          </a:xfrm>
          <a:prstGeom prst="rect">
            <a:avLst/>
          </a:prstGeom>
          <a:solidFill>
            <a:srgbClr val="00B4D8"/>
          </a:solidFill>
          <a:ln w="12700">
            <a:solidFill>
              <a:srgbClr val="00B4D8"/>
            </a:solidFill>
            <a:prstDash val="solid"/>
          </a:ln>
        </p:spPr>
      </p:sp>
      <p:sp>
        <p:nvSpPr>
          <p:cNvPr id="1057200605" name="Text 1"/>
          <p:cNvSpPr/>
          <p:nvPr/>
        </p:nvSpPr>
        <p:spPr bwMode="auto">
          <a:xfrm>
            <a:off x="365760" y="228600"/>
            <a:ext cx="8412480" cy="73152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Bilan &amp; Regard critique</a:t>
            </a:r>
            <a:endParaRPr lang="en-US" sz="2600"/>
          </a:p>
        </p:txBody>
      </p:sp>
      <p:sp>
        <p:nvSpPr>
          <p:cNvPr id="1317145490" name="Shape 2"/>
          <p:cNvSpPr/>
          <p:nvPr/>
        </p:nvSpPr>
        <p:spPr bwMode="auto">
          <a:xfrm>
            <a:off x="274320" y="1097280"/>
            <a:ext cx="4114800" cy="3108960"/>
          </a:xfrm>
          <a:prstGeom prst="rect">
            <a:avLst/>
          </a:prstGeom>
          <a:solidFill>
            <a:srgbClr val="132338"/>
          </a:solidFill>
          <a:ln w="19050">
            <a:solidFill>
              <a:srgbClr val="1B5E20"/>
            </a:solidFill>
            <a:prstDash val="solid"/>
          </a:ln>
          <a:effectLst>
            <a:outerShdw blurRad="101600" dist="38100" dir="8100000" sx="100000" sy="100000" kx="0" ky="0" algn="bl" rotWithShape="0">
              <a:srgbClr val="000000">
                <a:alpha val="18000"/>
              </a:srgbClr>
            </a:outerShdw>
          </a:effectLst>
        </p:spPr>
      </p:sp>
      <p:sp>
        <p:nvSpPr>
          <p:cNvPr id="1807003526" name="Text 3"/>
          <p:cNvSpPr/>
          <p:nvPr/>
        </p:nvSpPr>
        <p:spPr bwMode="auto">
          <a:xfrm>
            <a:off x="411480" y="1234440"/>
            <a:ext cx="3840480" cy="502920"/>
          </a:xfrm>
          <a:prstGeom prst="rect">
            <a:avLst/>
          </a:prstGeom>
          <a:noFill/>
          <a:ln/>
        </p:spPr>
        <p:txBody>
          <a:bodyPr wrap="square" rtlCol="0" anchor="ctr"/>
          <a:lstStyle/>
          <a:p>
            <a:pPr marL="0" indent="0">
              <a:buNone/>
              <a:defRPr/>
            </a:pPr>
            <a:r>
              <a:rPr>
                <a:solidFill>
                  <a:schemeClr val="bg1"/>
                </a:solidFill>
                <a:latin typeface="Asana"/>
                <a:ea typeface="Asana"/>
                <a:cs typeface="Asana"/>
              </a:rPr>
              <a:t>⭐</a:t>
            </a:r>
            <a:r>
              <a:rPr lang="en-US" sz="1300" b="1">
                <a:solidFill>
                  <a:schemeClr val="bg1"/>
                </a:solidFill>
                <a:latin typeface="Calibri"/>
                <a:ea typeface="Calibri"/>
                <a:cs typeface="Calibri"/>
              </a:rPr>
              <a:t> </a:t>
            </a:r>
            <a:r>
              <a:rPr lang="en-US" sz="1300" b="1">
                <a:solidFill>
                  <a:srgbClr val="E8F5E9"/>
                </a:solidFill>
                <a:latin typeface="Calibri"/>
                <a:ea typeface="Calibri"/>
                <a:cs typeface="Calibri"/>
              </a:rPr>
              <a:t>Points forts</a:t>
            </a:r>
            <a:endParaRPr lang="en-US" sz="1300"/>
          </a:p>
        </p:txBody>
      </p:sp>
      <p:sp>
        <p:nvSpPr>
          <p:cNvPr id="1741297444" name="Text 4"/>
          <p:cNvSpPr/>
          <p:nvPr/>
        </p:nvSpPr>
        <p:spPr bwMode="auto">
          <a:xfrm>
            <a:off x="411480" y="1783080"/>
            <a:ext cx="3840480" cy="502920"/>
          </a:xfrm>
          <a:prstGeom prst="rect">
            <a:avLst/>
          </a:prstGeom>
          <a:noFill/>
          <a:ln/>
        </p:spPr>
        <p:txBody>
          <a:bodyPr wrap="square" rtlCol="0" anchor="ctr"/>
          <a:lstStyle/>
          <a:p>
            <a:pPr marL="0" indent="0">
              <a:buNone/>
              <a:defRPr/>
            </a:pPr>
            <a:r>
              <a:rPr lang="en-US" sz="1150">
                <a:solidFill>
                  <a:srgbClr val="EEF2F7"/>
                </a:solidFill>
                <a:latin typeface="Calibri"/>
                <a:ea typeface="Calibri"/>
                <a:cs typeface="Calibri"/>
              </a:rPr>
              <a:t>→  Gain de temps significatif sur l'architecture</a:t>
            </a:r>
            <a:endParaRPr lang="en-US" sz="1150"/>
          </a:p>
        </p:txBody>
      </p:sp>
      <p:sp>
        <p:nvSpPr>
          <p:cNvPr id="900561825" name="Text 5"/>
          <p:cNvSpPr/>
          <p:nvPr/>
        </p:nvSpPr>
        <p:spPr bwMode="auto">
          <a:xfrm>
            <a:off x="411480" y="2350008"/>
            <a:ext cx="3840480" cy="502920"/>
          </a:xfrm>
          <a:prstGeom prst="rect">
            <a:avLst/>
          </a:prstGeom>
          <a:noFill/>
          <a:ln/>
        </p:spPr>
        <p:txBody>
          <a:bodyPr wrap="square" rtlCol="0" anchor="ctr"/>
          <a:lstStyle/>
          <a:p>
            <a:pPr marL="0" indent="0">
              <a:buNone/>
              <a:defRPr/>
            </a:pPr>
            <a:r>
              <a:rPr lang="en-US" sz="1150">
                <a:solidFill>
                  <a:srgbClr val="EEF2F7"/>
                </a:solidFill>
                <a:latin typeface="Calibri"/>
                <a:ea typeface="Calibri"/>
                <a:cs typeface="Calibri"/>
              </a:rPr>
              <a:t>→  L'IA comme </a:t>
            </a:r>
            <a:r>
              <a:rPr lang="fr-FR" sz="1150">
                <a:solidFill>
                  <a:srgbClr val="EEF2F7"/>
                </a:solidFill>
                <a:latin typeface="Calibri"/>
                <a:ea typeface="Calibri"/>
                <a:cs typeface="Calibri"/>
              </a:rPr>
              <a:t>un </a:t>
            </a:r>
            <a:r>
              <a:rPr lang="en-US" sz="1150">
                <a:solidFill>
                  <a:srgbClr val="EEF2F7"/>
                </a:solidFill>
                <a:latin typeface="Calibri"/>
                <a:ea typeface="Calibri"/>
                <a:cs typeface="Calibri"/>
              </a:rPr>
              <a:t>part</a:t>
            </a:r>
            <a:r>
              <a:rPr lang="fr-FR" sz="1150">
                <a:solidFill>
                  <a:srgbClr val="EEF2F7"/>
                </a:solidFill>
                <a:latin typeface="Calibri"/>
                <a:ea typeface="Calibri"/>
                <a:cs typeface="Calibri"/>
              </a:rPr>
              <a:t>enaire </a:t>
            </a:r>
            <a:r>
              <a:rPr lang="en-US" sz="1150">
                <a:solidFill>
                  <a:srgbClr val="EEF2F7"/>
                </a:solidFill>
                <a:latin typeface="Calibri"/>
                <a:ea typeface="Calibri"/>
                <a:cs typeface="Calibri"/>
              </a:rPr>
              <a:t>pour les choix techniques</a:t>
            </a:r>
            <a:endParaRPr lang="en-US" sz="1150"/>
          </a:p>
        </p:txBody>
      </p:sp>
      <p:sp>
        <p:nvSpPr>
          <p:cNvPr id="1789697428" name="Text 6"/>
          <p:cNvSpPr/>
          <p:nvPr/>
        </p:nvSpPr>
        <p:spPr bwMode="auto">
          <a:xfrm>
            <a:off x="411480" y="2916936"/>
            <a:ext cx="3840480" cy="502920"/>
          </a:xfrm>
          <a:prstGeom prst="rect">
            <a:avLst/>
          </a:prstGeom>
          <a:noFill/>
          <a:ln/>
        </p:spPr>
        <p:txBody>
          <a:bodyPr wrap="square" rtlCol="0" anchor="ctr"/>
          <a:lstStyle/>
          <a:p>
            <a:pPr marL="0" indent="0">
              <a:buNone/>
              <a:defRPr/>
            </a:pPr>
            <a:r>
              <a:rPr lang="en-US" sz="1150">
                <a:solidFill>
                  <a:srgbClr val="EEF2F7"/>
                </a:solidFill>
                <a:latin typeface="Calibri"/>
                <a:ea typeface="Calibri"/>
                <a:cs typeface="Calibri"/>
              </a:rPr>
              <a:t>→  Copilot efficace pour debug et autocomplétion</a:t>
            </a:r>
            <a:endParaRPr lang="en-US" sz="1150"/>
          </a:p>
        </p:txBody>
      </p:sp>
      <p:sp>
        <p:nvSpPr>
          <p:cNvPr id="964569791" name="Text 7"/>
          <p:cNvSpPr/>
          <p:nvPr/>
        </p:nvSpPr>
        <p:spPr bwMode="auto">
          <a:xfrm>
            <a:off x="411480" y="3483864"/>
            <a:ext cx="3840480" cy="502920"/>
          </a:xfrm>
          <a:prstGeom prst="rect">
            <a:avLst/>
          </a:prstGeom>
          <a:noFill/>
          <a:ln/>
        </p:spPr>
        <p:txBody>
          <a:bodyPr wrap="square" rtlCol="0" anchor="ctr"/>
          <a:lstStyle/>
          <a:p>
            <a:pPr marL="0" indent="0">
              <a:buNone/>
              <a:defRPr/>
            </a:pPr>
            <a:r>
              <a:rPr lang="en-US" sz="1150">
                <a:solidFill>
                  <a:srgbClr val="EEF2F7"/>
                </a:solidFill>
                <a:latin typeface="Calibri"/>
                <a:ea typeface="Calibri"/>
                <a:cs typeface="Calibri"/>
              </a:rPr>
              <a:t>→  Bonne structuration du projet dès le départ</a:t>
            </a:r>
            <a:endParaRPr lang="en-US" sz="1150"/>
          </a:p>
        </p:txBody>
      </p:sp>
      <p:sp>
        <p:nvSpPr>
          <p:cNvPr id="1985353491" name="Shape 8"/>
          <p:cNvSpPr/>
          <p:nvPr/>
        </p:nvSpPr>
        <p:spPr bwMode="auto">
          <a:xfrm>
            <a:off x="4846320" y="1097280"/>
            <a:ext cx="4114800" cy="3108960"/>
          </a:xfrm>
          <a:prstGeom prst="rect">
            <a:avLst/>
          </a:prstGeom>
          <a:solidFill>
            <a:srgbClr val="132338"/>
          </a:solidFill>
          <a:ln w="19050">
            <a:solidFill>
              <a:srgbClr val="B71C1C"/>
            </a:solidFill>
            <a:prstDash val="solid"/>
          </a:ln>
          <a:effectLst>
            <a:outerShdw blurRad="101600" dist="38100" dir="8100000" sx="100000" sy="100000" kx="0" ky="0" algn="bl" rotWithShape="0">
              <a:srgbClr val="000000">
                <a:alpha val="18000"/>
              </a:srgbClr>
            </a:outerShdw>
          </a:effectLst>
        </p:spPr>
      </p:sp>
      <p:sp>
        <p:nvSpPr>
          <p:cNvPr id="12673138" name="Text 9"/>
          <p:cNvSpPr/>
          <p:nvPr/>
        </p:nvSpPr>
        <p:spPr bwMode="auto">
          <a:xfrm>
            <a:off x="4983480" y="1234440"/>
            <a:ext cx="3840480" cy="502920"/>
          </a:xfrm>
          <a:prstGeom prst="rect">
            <a:avLst/>
          </a:prstGeom>
          <a:noFill/>
          <a:ln/>
        </p:spPr>
        <p:txBody>
          <a:bodyPr wrap="square" rtlCol="0" anchor="ctr"/>
          <a:lstStyle/>
          <a:p>
            <a:pPr marL="0" indent="0">
              <a:buNone/>
              <a:defRPr/>
            </a:pPr>
            <a:r>
              <a:rPr lang="en-US" sz="1300" b="1">
                <a:solidFill>
                  <a:srgbClr val="FFF3E0"/>
                </a:solidFill>
                <a:latin typeface="Calibri"/>
                <a:ea typeface="Calibri"/>
                <a:cs typeface="Calibri"/>
              </a:rPr>
              <a:t>⚠️ Limites rencontrées</a:t>
            </a:r>
            <a:endParaRPr lang="en-US" sz="1300"/>
          </a:p>
        </p:txBody>
      </p:sp>
      <p:sp>
        <p:nvSpPr>
          <p:cNvPr id="504517178" name="Text 10"/>
          <p:cNvSpPr/>
          <p:nvPr/>
        </p:nvSpPr>
        <p:spPr bwMode="auto">
          <a:xfrm>
            <a:off x="4983480" y="1783080"/>
            <a:ext cx="3840480" cy="502920"/>
          </a:xfrm>
          <a:prstGeom prst="rect">
            <a:avLst/>
          </a:prstGeom>
          <a:noFill/>
          <a:ln/>
        </p:spPr>
        <p:txBody>
          <a:bodyPr wrap="square" rtlCol="0" anchor="ctr"/>
          <a:lstStyle/>
          <a:p>
            <a:pPr marL="0" indent="0">
              <a:buNone/>
              <a:defRPr/>
            </a:pPr>
            <a:r>
              <a:rPr lang="en-US" sz="1150">
                <a:solidFill>
                  <a:srgbClr val="EEF2F7"/>
                </a:solidFill>
                <a:latin typeface="Calibri"/>
                <a:ea typeface="Calibri"/>
                <a:cs typeface="Calibri"/>
              </a:rPr>
              <a:t>→  Difficulté à corriger du code existant hors IDE</a:t>
            </a:r>
            <a:endParaRPr lang="en-US" sz="1150"/>
          </a:p>
        </p:txBody>
      </p:sp>
      <p:sp>
        <p:nvSpPr>
          <p:cNvPr id="1750624796" name="Text 11"/>
          <p:cNvSpPr/>
          <p:nvPr/>
        </p:nvSpPr>
        <p:spPr bwMode="auto">
          <a:xfrm>
            <a:off x="4983480" y="2350008"/>
            <a:ext cx="3840480" cy="502920"/>
          </a:xfrm>
          <a:prstGeom prst="rect">
            <a:avLst/>
          </a:prstGeom>
          <a:noFill/>
          <a:ln/>
        </p:spPr>
        <p:txBody>
          <a:bodyPr wrap="square" rtlCol="0" anchor="ctr"/>
          <a:lstStyle/>
          <a:p>
            <a:pPr marL="0" indent="0">
              <a:buNone/>
              <a:defRPr/>
            </a:pPr>
            <a:r>
              <a:rPr lang="en-US" sz="1150">
                <a:solidFill>
                  <a:srgbClr val="EEF2F7"/>
                </a:solidFill>
                <a:latin typeface="Calibri"/>
                <a:ea typeface="Calibri"/>
                <a:cs typeface="Calibri"/>
              </a:rPr>
              <a:t>→  Réponses génériques sans contexte précis</a:t>
            </a:r>
            <a:endParaRPr lang="en-US" sz="1150"/>
          </a:p>
        </p:txBody>
      </p:sp>
      <p:sp>
        <p:nvSpPr>
          <p:cNvPr id="1725344306" name="Text 12"/>
          <p:cNvSpPr/>
          <p:nvPr/>
        </p:nvSpPr>
        <p:spPr bwMode="auto">
          <a:xfrm>
            <a:off x="4983480" y="2916936"/>
            <a:ext cx="3840480" cy="502920"/>
          </a:xfrm>
          <a:prstGeom prst="rect">
            <a:avLst/>
          </a:prstGeom>
          <a:noFill/>
          <a:ln/>
        </p:spPr>
        <p:txBody>
          <a:bodyPr wrap="square" rtlCol="0" anchor="ctr"/>
          <a:lstStyle/>
          <a:p>
            <a:pPr marL="0" indent="0">
              <a:buNone/>
              <a:defRPr/>
            </a:pPr>
            <a:r>
              <a:rPr lang="en-US" sz="1150">
                <a:solidFill>
                  <a:srgbClr val="EEF2F7"/>
                </a:solidFill>
                <a:latin typeface="Calibri"/>
                <a:ea typeface="Calibri"/>
                <a:cs typeface="Calibri"/>
              </a:rPr>
              <a:t>→  Tokens limités avec abonnement gratuit</a:t>
            </a:r>
            <a:endParaRPr lang="en-US" sz="1150"/>
          </a:p>
        </p:txBody>
      </p:sp>
      <p:sp>
        <p:nvSpPr>
          <p:cNvPr id="2002800281" name="Text 13"/>
          <p:cNvSpPr/>
          <p:nvPr/>
        </p:nvSpPr>
        <p:spPr bwMode="auto">
          <a:xfrm>
            <a:off x="4983480" y="3483864"/>
            <a:ext cx="3840480" cy="502920"/>
          </a:xfrm>
          <a:prstGeom prst="rect">
            <a:avLst/>
          </a:prstGeom>
          <a:noFill/>
          <a:ln/>
        </p:spPr>
        <p:txBody>
          <a:bodyPr wrap="square" rtlCol="0" anchor="ctr"/>
          <a:lstStyle/>
          <a:p>
            <a:pPr marL="0" indent="0">
              <a:buNone/>
              <a:defRPr/>
            </a:pPr>
            <a:r>
              <a:rPr lang="en-US" sz="1150">
                <a:solidFill>
                  <a:srgbClr val="EEF2F7"/>
                </a:solidFill>
                <a:latin typeface="Calibri"/>
                <a:ea typeface="Calibri"/>
                <a:cs typeface="Calibri"/>
              </a:rPr>
              <a:t>→  Validation humaine indispensable pour chaque décision</a:t>
            </a:r>
            <a:endParaRPr lang="en-US" sz="1150"/>
          </a:p>
        </p:txBody>
      </p:sp>
      <p:sp>
        <p:nvSpPr>
          <p:cNvPr id="126324654" name="Text 14"/>
          <p:cNvSpPr/>
          <p:nvPr/>
        </p:nvSpPr>
        <p:spPr bwMode="auto">
          <a:xfrm>
            <a:off x="274320" y="4434840"/>
            <a:ext cx="8595360" cy="548640"/>
          </a:xfrm>
          <a:prstGeom prst="rect">
            <a:avLst/>
          </a:prstGeom>
          <a:noFill/>
          <a:ln/>
        </p:spPr>
        <p:txBody>
          <a:bodyPr wrap="square" rtlCol="0" anchor="ctr"/>
          <a:lstStyle/>
          <a:p>
            <a:pPr marL="0" indent="0" algn="ctr">
              <a:buNone/>
              <a:defRPr/>
            </a:pPr>
            <a:r>
              <a:rPr lang="en-US" sz="1300" b="1">
                <a:solidFill>
                  <a:srgbClr val="0D1B2A"/>
                </a:solidFill>
                <a:latin typeface="Calibri"/>
                <a:ea typeface="Calibri"/>
                <a:cs typeface="Calibri"/>
              </a:rPr>
              <a:t>L'IA est un outil puissant</a:t>
            </a:r>
            <a:r>
              <a:rPr lang="en-US" sz="1300" b="1">
                <a:solidFill>
                  <a:srgbClr val="0D1B2A"/>
                </a:solidFill>
                <a:latin typeface="Calibri"/>
                <a:ea typeface="Calibri"/>
                <a:cs typeface="Calibri"/>
              </a:rPr>
              <a:t> mais c'est le développeur qui garde le </a:t>
            </a:r>
            <a:r>
              <a:rPr lang="fr-FR" sz="1300" b="1">
                <a:solidFill>
                  <a:srgbClr val="0D1B2A"/>
                </a:solidFill>
                <a:latin typeface="Calibri"/>
                <a:ea typeface="Calibri"/>
                <a:cs typeface="Calibri"/>
              </a:rPr>
              <a:t>contrôle</a:t>
            </a:r>
            <a:r>
              <a:rPr lang="en-US" sz="1300" b="1">
                <a:solidFill>
                  <a:srgbClr val="0D1B2A"/>
                </a:solidFill>
                <a:latin typeface="Calibri"/>
                <a:ea typeface="Calibri"/>
                <a:cs typeface="Calibri"/>
              </a:rPr>
              <a:t>.</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Co-développement Humain-IA</dc:title>
  <dc:subject>PptxGenJS Presentation</dc:subject>
  <dc:creator>PptxGenJS</dc:creator>
  <cp:lastModifiedBy/>
  <cp:revision>4</cp:revision>
  <dcterms:created xsi:type="dcterms:W3CDTF">2026-03-24T21:04:28Z</dcterms:created>
  <dcterms:modified xsi:type="dcterms:W3CDTF">2026-03-25T07:52:19Z</dcterms:modified>
</cp:coreProperties>
</file>